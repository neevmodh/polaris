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Polaris is one website over four engines: carbon accounting, satellite screening, micro-grid optimisation and greenhouse-gas forecasting. The rest of the deck is organised around the four judging criteria: innovation, feasibility, environmental impact, and scale and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Innovation here is integration and discipline, not a new algorithm. The ingredients are standard; the difference is four engines in one workspace, each reporting its own limits. The comparison is with common practice in general, not any named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diagram for the whole system. The strip at the bottom is the scalability path: today a single container, then persistence and precompute, then one service per engine behind a queue. Each worker already speaks a narrow JSON protocol, which is what makes the split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Carbon: inputs are multiplied by published factors, then perturbed in a Monte Carlo run so every total is a range. The ML branch handles companies with no metered data. Earth: a cloud-masked Sentinel-2 pair becomes spectral index changes, detectors propose candidate regions in hectares, and a person reviews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Micro-grid: weather and load feed forecasters, the forecasts feed a linear programme, and five disturbances are thrown at the same day. When no optimal plan exists the sheet says so. Air: a chronological split, three models and two persistence benchmarks, and a computed verdict on whether the model earned its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journey is the same on every sheet: land, choose a section, enter inputs, read a result with its range and limits, then act. Handoffs let the carbon ML estimate seed the abatement plan and a saved dispatch saving replace the default on the abatement and runway 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wireframe every sheet follows. The summary comes before the detail, scope colours keep one meaning across charts, and the analyst always sits last so it explains figures already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screenshots of the running site in light mode. The overview shows four readings computed live by the engines; each sheet below carries its own provenance and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for every model, dataset and the equations that matter. Model selection uses a calibration split and the final score uses a holdout the selection never saw. Two datasets are synthetic and the sheets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for the last three criteria. Feasibility is running code and tests, impact is measured outputs with their basis, and roadmap is four phases with a verifiable exit each. Fill the bracketed placeholders before presenting; no market-size figure is claimed because none has been researched.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2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43930"/>
            <a:ext cx="10566400" cy="360015"/>
          </a:xfrm>
          <a:prstGeom prst="rect">
            <a:avLst/>
          </a:prstGeom>
          <a:noFill/>
          <a:ln/>
        </p:spPr>
        <p:txBody>
          <a:bodyPr wrap="square" lIns="0" tIns="0" rIns="0" bIns="0" rtlCol="0" anchor="t"/>
          <a:lstStyle>
            <a:lvl1pPr algn="l" indent="0" marL="0">
              <a:lnSpc>
                <a:spcPct val="115000"/>
              </a:lnSpc>
              <a:buNone/>
              <a:defRPr lang="en-US" sz="2700" dirty="0">
                <a:solidFill>
                  <a:srgbClr val="0C2E22"/>
                </a:solidFill>
                <a:latin typeface="Archivo" pitchFamily="34" charset="0"/>
                <a:ea typeface="Archivo" pitchFamily="34" charset="-122"/>
                <a:cs typeface="Archivo" pitchFamily="34" charset="-120"/>
              </a:defRPr>
            </a:lvl1pPr>
          </a:lstStyle>
          <a:p>
            <a:pPr algn="l" indent="0" marL="0">
              <a:lnSpc>
                <a:spcPct val="115000"/>
              </a:lnSpc>
              <a:buNone/>
            </a:pPr>
            <a:endParaRPr lang="en-US" sz="2700" dirty="0"/>
          </a:p>
        </p:txBody>
      </p:sp>
      <p:sp>
        <p:nvSpPr>
          <p:cNvPr id="3" name="Text Placeholder 2"/>
          <p:cNvSpPr/>
          <p:nvPr>
            <p:ph idx="101" type="body"/>
          </p:nvPr>
        </p:nvSpPr>
        <p:spPr>
          <a:xfrm>
            <a:off x="812800" y="1708745"/>
            <a:ext cx="10566400" cy="4336455"/>
          </a:xfrm>
          <a:prstGeom prst="rect">
            <a:avLst/>
          </a:prstGeom>
          <a:noFill/>
          <a:ln/>
        </p:spPr>
        <p:txBody>
          <a:bodyPr wrap="square" lIns="0" tIns="0" rIns="0" bIns="0" rtlCol="0" anchor="t"/>
          <a:lstStyle>
            <a:lvl1pPr algn="l" indent="0" marL="0">
              <a:lnSpc>
                <a:spcPct val="140000"/>
              </a:lnSpc>
              <a:buNone/>
              <a:defRPr lang="en-US" sz="1600" dirty="0">
                <a:solidFill>
                  <a:srgbClr val="0C2E22"/>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43930"/>
            <a:ext cx="10566400" cy="360015"/>
          </a:xfrm>
          <a:prstGeom prst="rect">
            <a:avLst/>
          </a:prstGeom>
          <a:noFill/>
          <a:ln/>
        </p:spPr>
        <p:txBody>
          <a:bodyPr wrap="square" lIns="0" tIns="0" rIns="0" bIns="0" rtlCol="0" anchor="t"/>
          <a:lstStyle>
            <a:lvl1pPr algn="l" indent="0" marL="0">
              <a:lnSpc>
                <a:spcPct val="115000"/>
              </a:lnSpc>
              <a:buNone/>
              <a:defRPr lang="en-US" sz="2700" dirty="0">
                <a:solidFill>
                  <a:srgbClr val="FFFFFF"/>
                </a:solidFill>
                <a:latin typeface="Archivo" pitchFamily="34" charset="0"/>
                <a:ea typeface="Archivo" pitchFamily="34" charset="-122"/>
                <a:cs typeface="Archivo" pitchFamily="34" charset="-120"/>
              </a:defRPr>
            </a:lvl1pPr>
          </a:lstStyle>
          <a:p>
            <a:pPr algn="l" indent="0" marL="0">
              <a:lnSpc>
                <a:spcPct val="115000"/>
              </a:lnSpc>
              <a:buNone/>
            </a:pPr>
            <a:endParaRPr lang="en-US" sz="2700" dirty="0"/>
          </a:p>
        </p:txBody>
      </p:sp>
      <p:sp>
        <p:nvSpPr>
          <p:cNvPr id="3" name="Text Placeholder 2"/>
          <p:cNvSpPr/>
          <p:nvPr>
            <p:ph idx="101" type="body"/>
          </p:nvPr>
        </p:nvSpPr>
        <p:spPr>
          <a:xfrm>
            <a:off x="812800" y="1708745"/>
            <a:ext cx="10566400" cy="4336455"/>
          </a:xfrm>
          <a:prstGeom prst="rect">
            <a:avLst/>
          </a:prstGeom>
          <a:noFill/>
          <a:ln/>
        </p:spPr>
        <p:txBody>
          <a:bodyPr wrap="square" lIns="0" tIns="0" rIns="0" bIns="0" rtlCol="0" anchor="t"/>
          <a:lstStyle>
            <a:lvl1pPr algn="l" indent="0" marL="0">
              <a:lnSpc>
                <a:spcPct val="140000"/>
              </a:lnSpc>
              <a:buNone/>
              <a:defRPr lang="en-US" sz="1600" dirty="0">
                <a:solidFill>
                  <a:srgbClr val="FFFFFF"/>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7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43930"/>
            <a:ext cx="10566400" cy="360015"/>
          </a:xfrm>
          <a:prstGeom prst="rect">
            <a:avLst/>
          </a:prstGeom>
          <a:noFill/>
          <a:ln/>
        </p:spPr>
        <p:txBody>
          <a:bodyPr wrap="square" lIns="0" tIns="0" rIns="0" bIns="0" rtlCol="0" anchor="t"/>
          <a:lstStyle>
            <a:lvl1pPr algn="l" indent="0" marL="0">
              <a:lnSpc>
                <a:spcPct val="115000"/>
              </a:lnSpc>
              <a:buNone/>
              <a:defRPr lang="en-US" sz="2700" dirty="0">
                <a:solidFill>
                  <a:srgbClr val="0C2E22"/>
                </a:solidFill>
                <a:latin typeface="Archivo" pitchFamily="34" charset="0"/>
                <a:ea typeface="Archivo" pitchFamily="34" charset="-122"/>
                <a:cs typeface="Archivo" pitchFamily="34" charset="-120"/>
              </a:defRPr>
            </a:lvl1pPr>
          </a:lstStyle>
          <a:p>
            <a:pPr algn="l" indent="0" marL="0">
              <a:lnSpc>
                <a:spcPct val="115000"/>
              </a:lnSpc>
              <a:buNone/>
            </a:pPr>
            <a:endParaRPr lang="en-US" sz="2700" dirty="0"/>
          </a:p>
        </p:txBody>
      </p:sp>
      <p:sp>
        <p:nvSpPr>
          <p:cNvPr id="3" name="Text Placeholder 2"/>
          <p:cNvSpPr/>
          <p:nvPr>
            <p:ph idx="101" type="body"/>
          </p:nvPr>
        </p:nvSpPr>
        <p:spPr>
          <a:xfrm>
            <a:off x="812800" y="1708745"/>
            <a:ext cx="10566400" cy="4336455"/>
          </a:xfrm>
          <a:prstGeom prst="rect">
            <a:avLst/>
          </a:prstGeom>
          <a:noFill/>
          <a:ln/>
        </p:spPr>
        <p:txBody>
          <a:bodyPr wrap="square" lIns="0" tIns="0" rIns="0" bIns="0" rtlCol="0" anchor="t"/>
          <a:lstStyle>
            <a:lvl1pPr algn="l" indent="0" marL="0">
              <a:lnSpc>
                <a:spcPct val="140000"/>
              </a:lnSpc>
              <a:buNone/>
              <a:defRPr lang="en-US" sz="1600" dirty="0">
                <a:solidFill>
                  <a:srgbClr val="0C2E22"/>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our-point star, the Polaris mark">    </p:cNvPr>
          <p:cNvPicPr>
            <a:picLocks noChangeAspect="1"/>
          </p:cNvPicPr>
          <p:nvPr/>
        </p:nvPicPr>
        <p:blipFill>
          <a:blip r:embed="rId1"/>
          <a:srcRect l="0" r="0" t="0" b="0"/>
          <a:stretch/>
        </p:blipFill>
        <p:spPr>
          <a:xfrm>
            <a:off x="7493000" y="1587500"/>
            <a:ext cx="3302000" cy="3302000"/>
          </a:xfrm>
          <a:prstGeom prst="rect">
            <a:avLst/>
          </a:prstGeom>
        </p:spPr>
      </p:pic>
      <p:sp>
        <p:nvSpPr>
          <p:cNvPr id="3" name="Text 0"/>
          <p:cNvSpPr/>
          <p:nvPr/>
        </p:nvSpPr>
        <p:spPr>
          <a:xfrm>
            <a:off x="812800" y="147037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7FD6F5"/>
                </a:solidFill>
                <a:latin typeface="JetBrains Mono" pitchFamily="49" charset="0"/>
                <a:ea typeface="JetBrains Mono" pitchFamily="49" charset="-122"/>
                <a:cs typeface="JetBrains Mono" pitchFamily="49" charset="-120"/>
              </a:rPr>
              <a:t>GREENOVATORS 2026 · TRACK 3 · NET ZERO AI ARCHITECTURE</a:t>
            </a:r>
            <a:endParaRPr lang="en-US" sz="1400" dirty="0"/>
          </a:p>
        </p:txBody>
      </p:sp>
      <p:sp>
        <p:nvSpPr>
          <p:cNvPr id="4" name="Text 1"/>
          <p:cNvSpPr/>
          <p:nvPr>
            <p:ph type="title"/>
          </p:nvPr>
        </p:nvSpPr>
        <p:spPr>
          <a:xfrm>
            <a:off x="812800" y="1947863"/>
            <a:ext cx="10883392" cy="1412875"/>
          </a:xfrm>
          <a:prstGeom prst="rect">
            <a:avLst/>
          </a:prstGeom>
          <a:noFill/>
          <a:ln/>
        </p:spPr>
        <p:txBody>
          <a:bodyPr wrap="square" lIns="0" tIns="0" rIns="0" bIns="0" rtlCol="0" anchor="t">
            <a:normAutofit/>
          </a:bodyPr>
          <a:lstStyle/>
          <a:p>
            <a:pPr algn="l" indent="0" marL="0">
              <a:lnSpc>
                <a:spcPts val="10925"/>
              </a:lnSpc>
              <a:buNone/>
            </a:pPr>
            <a:r>
              <a:rPr lang="en-US" sz="11500" b="1" i="0" spc="-400" kern="0" dirty="0">
                <a:solidFill>
                  <a:srgbClr val="FFFFFF"/>
                </a:solidFill>
                <a:latin typeface="Archivo" pitchFamily="34" charset="0"/>
                <a:ea typeface="Archivo" pitchFamily="34" charset="-122"/>
                <a:cs typeface="Archivo" pitchFamily="34" charset="-120"/>
              </a:rPr>
              <a:t>Polaris</a:t>
            </a:r>
            <a:endParaRPr lang="en-US" sz="11500" dirty="0"/>
          </a:p>
        </p:txBody>
      </p:sp>
      <p:sp>
        <p:nvSpPr>
          <p:cNvPr id="5" name="Text 2"/>
          <p:cNvSpPr/>
          <p:nvPr/>
        </p:nvSpPr>
        <p:spPr>
          <a:xfrm>
            <a:off x="812800" y="3563938"/>
            <a:ext cx="6540500" cy="1168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C5D3E0"/>
                </a:solidFill>
                <a:latin typeface="Public Sans" pitchFamily="34" charset="0"/>
                <a:ea typeface="Public Sans" pitchFamily="34" charset="-122"/>
                <a:cs typeface="Public Sans" pitchFamily="34" charset="-120"/>
              </a:rPr>
              <a:t>Measure it. See it. Cut it. One workspace over four tested engines for the whole net-zero question.</a:t>
            </a:r>
            <a:endParaRPr lang="en-US" sz="2400" dirty="0"/>
          </a:p>
        </p:txBody>
      </p:sp>
      <p:sp>
        <p:nvSpPr>
          <p:cNvPr id="6" name="Text 3"/>
          <p:cNvSpPr/>
          <p:nvPr/>
        </p:nvSpPr>
        <p:spPr>
          <a:xfrm>
            <a:off x="812800" y="4935538"/>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A47BFF"/>
                </a:solidFill>
                <a:latin typeface="JetBrains Mono" pitchFamily="49" charset="0"/>
                <a:ea typeface="JetBrains Mono" pitchFamily="49" charset="-122"/>
                <a:cs typeface="JetBrains Mono" pitchFamily="49" charset="-120"/>
              </a:rPr>
              <a:t>Team CarbonIQ</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B6B45"/>
                </a:solidFill>
                <a:latin typeface="JetBrains Mono" pitchFamily="49" charset="0"/>
                <a:ea typeface="JetBrains Mono" pitchFamily="49" charset="-122"/>
                <a:cs typeface="JetBrains Mono" pitchFamily="49" charset="-120"/>
              </a:rPr>
              <a:t>CRITERION 1 · INNOVATION AND ORIGINALITY</a:t>
            </a:r>
            <a:endParaRPr lang="en-US" sz="1300" dirty="0"/>
          </a:p>
        </p:txBody>
      </p:sp>
      <p:sp>
        <p:nvSpPr>
          <p:cNvPr id="3" name="Text 1"/>
          <p:cNvSpPr/>
          <p:nvPr>
            <p:ph type="title"/>
          </p:nvPr>
        </p:nvSpPr>
        <p:spPr>
          <a:xfrm>
            <a:off x="812800" y="1107430"/>
            <a:ext cx="10883392" cy="425450"/>
          </a:xfrm>
          <a:prstGeom prst="rect">
            <a:avLst/>
          </a:prstGeom>
          <a:noFill/>
          <a:ln/>
        </p:spPr>
        <p:txBody>
          <a:bodyPr wrap="square" lIns="0" tIns="0" rIns="0" bIns="0" rtlCol="0" anchor="t">
            <a:normAutofit/>
          </a:bodyPr>
          <a:lstStyle/>
          <a:p>
            <a:pPr algn="l" indent="0" marL="0">
              <a:lnSpc>
                <a:spcPts val="3150"/>
              </a:lnSpc>
              <a:buNone/>
            </a:pPr>
            <a:r>
              <a:rPr lang="en-US" sz="3000" b="1" i="0" spc="-100" kern="0" dirty="0">
                <a:solidFill>
                  <a:srgbClr val="0C2E22"/>
                </a:solidFill>
                <a:latin typeface="Archivo" pitchFamily="34" charset="0"/>
                <a:ea typeface="Archivo" pitchFamily="34" charset="-122"/>
                <a:cs typeface="Archivo" pitchFamily="34" charset="-120"/>
              </a:rPr>
              <a:t>Four problems, one workspace that admits its limits.</a:t>
            </a:r>
            <a:endParaRPr lang="en-US" sz="3000" dirty="0"/>
          </a:p>
        </p:txBody>
      </p:sp>
      <p:sp>
        <p:nvSpPr>
          <p:cNvPr id="4" name="Text 2"/>
          <p:cNvSpPr/>
          <p:nvPr/>
        </p:nvSpPr>
        <p:spPr>
          <a:xfrm>
            <a:off x="812800" y="1685280"/>
            <a:ext cx="508288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675A"/>
                </a:solidFill>
                <a:latin typeface="JetBrains Mono" pitchFamily="49" charset="0"/>
                <a:ea typeface="JetBrains Mono" pitchFamily="49" charset="-122"/>
                <a:cs typeface="JetBrains Mono" pitchFamily="49" charset="-120"/>
              </a:rPr>
              <a:t>THE FOUR FOCUS AREAS</a:t>
            </a:r>
            <a:endParaRPr lang="en-US" sz="1200" dirty="0"/>
          </a:p>
        </p:txBody>
      </p:sp>
      <p:sp>
        <p:nvSpPr>
          <p:cNvPr id="5" name="Shape 3"/>
          <p:cNvSpPr/>
          <p:nvPr/>
        </p:nvSpPr>
        <p:spPr>
          <a:xfrm>
            <a:off x="815975" y="1977975"/>
            <a:ext cx="4928493" cy="433040"/>
          </a:xfrm>
          <a:prstGeom prst="roundRect">
            <a:avLst>
              <a:gd name="adj" fmla="val 8065"/>
            </a:avLst>
          </a:prstGeom>
          <a:solidFill>
            <a:srgbClr val="FFFFFF"/>
          </a:solidFill>
          <a:ln w="6350">
            <a:solidFill>
              <a:srgbClr val="C9DCCF"/>
            </a:solidFill>
            <a:prstDash val="solid"/>
          </a:ln>
        </p:spPr>
      </p:sp>
      <p:sp>
        <p:nvSpPr>
          <p:cNvPr id="6" name="Text 4"/>
          <p:cNvSpPr/>
          <p:nvPr/>
        </p:nvSpPr>
        <p:spPr>
          <a:xfrm>
            <a:off x="946150" y="2070050"/>
            <a:ext cx="21583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Public Sans" pitchFamily="34" charset="0"/>
                <a:ea typeface="Public Sans" pitchFamily="34" charset="-122"/>
                <a:cs typeface="Public Sans" pitchFamily="34" charset="-120"/>
              </a:rPr>
              <a:t>Carbon footprint</a:t>
            </a:r>
            <a:endParaRPr lang="en-US" sz="1400" dirty="0"/>
          </a:p>
        </p:txBody>
      </p:sp>
      <p:sp>
        <p:nvSpPr>
          <p:cNvPr id="7" name="Text 5"/>
          <p:cNvSpPr/>
          <p:nvPr/>
        </p:nvSpPr>
        <p:spPr>
          <a:xfrm>
            <a:off x="3143250" y="2087811"/>
            <a:ext cx="19054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Scope 1, 2, 3 estimator</a:t>
            </a:r>
            <a:endParaRPr lang="en-US" sz="1200" dirty="0"/>
          </a:p>
        </p:txBody>
      </p:sp>
      <p:sp>
        <p:nvSpPr>
          <p:cNvPr id="8" name="Shape 6"/>
          <p:cNvSpPr/>
          <p:nvPr/>
        </p:nvSpPr>
        <p:spPr>
          <a:xfrm>
            <a:off x="815975" y="2493566"/>
            <a:ext cx="4928493" cy="433040"/>
          </a:xfrm>
          <a:prstGeom prst="roundRect">
            <a:avLst>
              <a:gd name="adj" fmla="val 8065"/>
            </a:avLst>
          </a:prstGeom>
          <a:solidFill>
            <a:srgbClr val="FFFFFF"/>
          </a:solidFill>
          <a:ln w="6350">
            <a:solidFill>
              <a:srgbClr val="C9DCCF"/>
            </a:solidFill>
            <a:prstDash val="solid"/>
          </a:ln>
        </p:spPr>
      </p:sp>
      <p:sp>
        <p:nvSpPr>
          <p:cNvPr id="9" name="Text 7"/>
          <p:cNvSpPr/>
          <p:nvPr/>
        </p:nvSpPr>
        <p:spPr>
          <a:xfrm>
            <a:off x="946150" y="2585641"/>
            <a:ext cx="21583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Public Sans" pitchFamily="34" charset="0"/>
                <a:ea typeface="Public Sans" pitchFamily="34" charset="-122"/>
                <a:cs typeface="Public Sans" pitchFamily="34" charset="-120"/>
              </a:rPr>
              <a:t>Satellite imagery</a:t>
            </a:r>
            <a:endParaRPr lang="en-US" sz="1400" dirty="0"/>
          </a:p>
        </p:txBody>
      </p:sp>
      <p:sp>
        <p:nvSpPr>
          <p:cNvPr id="10" name="Text 8"/>
          <p:cNvSpPr/>
          <p:nvPr/>
        </p:nvSpPr>
        <p:spPr>
          <a:xfrm>
            <a:off x="3143250" y="2603401"/>
            <a:ext cx="23949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Deforestation, lake pollution</a:t>
            </a:r>
            <a:endParaRPr lang="en-US" sz="1200" dirty="0"/>
          </a:p>
        </p:txBody>
      </p:sp>
      <p:sp>
        <p:nvSpPr>
          <p:cNvPr id="11" name="Shape 9"/>
          <p:cNvSpPr/>
          <p:nvPr/>
        </p:nvSpPr>
        <p:spPr>
          <a:xfrm>
            <a:off x="815975" y="3009156"/>
            <a:ext cx="4928493" cy="433040"/>
          </a:xfrm>
          <a:prstGeom prst="roundRect">
            <a:avLst>
              <a:gd name="adj" fmla="val 8065"/>
            </a:avLst>
          </a:prstGeom>
          <a:solidFill>
            <a:srgbClr val="FFFFFF"/>
          </a:solidFill>
          <a:ln w="6350">
            <a:solidFill>
              <a:srgbClr val="C9DCCF"/>
            </a:solidFill>
            <a:prstDash val="solid"/>
          </a:ln>
        </p:spPr>
      </p:sp>
      <p:sp>
        <p:nvSpPr>
          <p:cNvPr id="12" name="Text 10"/>
          <p:cNvSpPr/>
          <p:nvPr/>
        </p:nvSpPr>
        <p:spPr>
          <a:xfrm>
            <a:off x="946150" y="3101231"/>
            <a:ext cx="21583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Public Sans" pitchFamily="34" charset="0"/>
                <a:ea typeface="Public Sans" pitchFamily="34" charset="-122"/>
                <a:cs typeface="Public Sans" pitchFamily="34" charset="-120"/>
              </a:rPr>
              <a:t>Micro-grid AI</a:t>
            </a:r>
            <a:endParaRPr lang="en-US" sz="1400" dirty="0"/>
          </a:p>
        </p:txBody>
      </p:sp>
      <p:sp>
        <p:nvSpPr>
          <p:cNvPr id="13" name="Text 11"/>
          <p:cNvSpPr/>
          <p:nvPr/>
        </p:nvSpPr>
        <p:spPr>
          <a:xfrm>
            <a:off x="3143250" y="3118991"/>
            <a:ext cx="20272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Solar and wind dispatch</a:t>
            </a:r>
            <a:endParaRPr lang="en-US" sz="1200" dirty="0"/>
          </a:p>
        </p:txBody>
      </p:sp>
      <p:sp>
        <p:nvSpPr>
          <p:cNvPr id="14" name="Shape 12"/>
          <p:cNvSpPr/>
          <p:nvPr/>
        </p:nvSpPr>
        <p:spPr>
          <a:xfrm>
            <a:off x="815975" y="3524746"/>
            <a:ext cx="4928493" cy="433040"/>
          </a:xfrm>
          <a:prstGeom prst="roundRect">
            <a:avLst>
              <a:gd name="adj" fmla="val 8065"/>
            </a:avLst>
          </a:prstGeom>
          <a:solidFill>
            <a:srgbClr val="FFFFFF"/>
          </a:solidFill>
          <a:ln w="6350">
            <a:solidFill>
              <a:srgbClr val="C9DCCF"/>
            </a:solidFill>
            <a:prstDash val="solid"/>
          </a:ln>
        </p:spPr>
      </p:sp>
      <p:sp>
        <p:nvSpPr>
          <p:cNvPr id="15" name="Text 13"/>
          <p:cNvSpPr/>
          <p:nvPr/>
        </p:nvSpPr>
        <p:spPr>
          <a:xfrm>
            <a:off x="946150" y="3616821"/>
            <a:ext cx="215836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Public Sans" pitchFamily="34" charset="0"/>
                <a:ea typeface="Public Sans" pitchFamily="34" charset="-122"/>
                <a:cs typeface="Public Sans" pitchFamily="34" charset="-120"/>
              </a:rPr>
              <a:t>Greenhouse-gas ML</a:t>
            </a:r>
            <a:endParaRPr lang="en-US" sz="1400" dirty="0"/>
          </a:p>
        </p:txBody>
      </p:sp>
      <p:sp>
        <p:nvSpPr>
          <p:cNvPr id="16" name="Text 14"/>
          <p:cNvSpPr/>
          <p:nvPr/>
        </p:nvSpPr>
        <p:spPr>
          <a:xfrm>
            <a:off x="3143250" y="3634581"/>
            <a:ext cx="20161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Localised CO₂ forecasts</a:t>
            </a:r>
            <a:endParaRPr lang="en-US" sz="1200" dirty="0"/>
          </a:p>
        </p:txBody>
      </p:sp>
      <p:sp>
        <p:nvSpPr>
          <p:cNvPr id="17" name="Text 15"/>
          <p:cNvSpPr/>
          <p:nvPr/>
        </p:nvSpPr>
        <p:spPr>
          <a:xfrm>
            <a:off x="5950843" y="1685280"/>
            <a:ext cx="55912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675A"/>
                </a:solidFill>
                <a:latin typeface="JetBrains Mono" pitchFamily="49" charset="0"/>
                <a:ea typeface="JetBrains Mono" pitchFamily="49" charset="-122"/>
                <a:cs typeface="JetBrains Mono" pitchFamily="49" charset="-120"/>
              </a:rPr>
              <a:t>WHAT IS DIFFERENT</a:t>
            </a:r>
            <a:endParaRPr lang="en-US" sz="1200" dirty="0"/>
          </a:p>
        </p:txBody>
      </p:sp>
      <p:sp>
        <p:nvSpPr>
          <p:cNvPr id="18" name="Shape 16"/>
          <p:cNvSpPr/>
          <p:nvPr/>
        </p:nvSpPr>
        <p:spPr>
          <a:xfrm>
            <a:off x="5950843" y="1974800"/>
            <a:ext cx="5428357" cy="640011"/>
          </a:xfrm>
          <a:prstGeom prst="roundRect">
            <a:avLst>
              <a:gd name="adj" fmla="val 5953"/>
            </a:avLst>
          </a:prstGeom>
          <a:solidFill>
            <a:srgbClr val="0C3D2C"/>
          </a:solidFill>
          <a:ln/>
        </p:spPr>
      </p:sp>
      <p:sp>
        <p:nvSpPr>
          <p:cNvPr id="19" name="Text 17"/>
          <p:cNvSpPr/>
          <p:nvPr/>
        </p:nvSpPr>
        <p:spPr>
          <a:xfrm>
            <a:off x="6090543" y="2063700"/>
            <a:ext cx="530342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Public Sans" pitchFamily="34" charset="0"/>
                <a:ea typeface="Public Sans" pitchFamily="34" charset="-122"/>
                <a:cs typeface="Public Sans" pitchFamily="34" charset="-120"/>
              </a:rPr>
              <a:t>A range, not a number</a:t>
            </a:r>
            <a:endParaRPr lang="en-US" sz="1400" dirty="0"/>
          </a:p>
        </p:txBody>
      </p:sp>
      <p:sp>
        <p:nvSpPr>
          <p:cNvPr id="20" name="Text 18"/>
          <p:cNvSpPr/>
          <p:nvPr/>
        </p:nvSpPr>
        <p:spPr>
          <a:xfrm>
            <a:off x="6090543" y="2312591"/>
            <a:ext cx="53034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E0CE"/>
                </a:solidFill>
                <a:latin typeface="Public Sans" pitchFamily="34" charset="0"/>
                <a:ea typeface="Public Sans" pitchFamily="34" charset="-122"/>
                <a:cs typeface="Public Sans" pitchFamily="34" charset="-120"/>
              </a:rPr>
              <a:t>Monte Carlo over every factor; names what widens it.</a:t>
            </a:r>
            <a:endParaRPr lang="en-US" sz="1200" dirty="0"/>
          </a:p>
        </p:txBody>
      </p:sp>
      <p:sp>
        <p:nvSpPr>
          <p:cNvPr id="21" name="Shape 19"/>
          <p:cNvSpPr/>
          <p:nvPr/>
        </p:nvSpPr>
        <p:spPr>
          <a:xfrm>
            <a:off x="5950843" y="2691011"/>
            <a:ext cx="5428357" cy="640011"/>
          </a:xfrm>
          <a:prstGeom prst="roundRect">
            <a:avLst>
              <a:gd name="adj" fmla="val 5953"/>
            </a:avLst>
          </a:prstGeom>
          <a:solidFill>
            <a:srgbClr val="0C3D2C"/>
          </a:solidFill>
          <a:ln/>
        </p:spPr>
      </p:sp>
      <p:sp>
        <p:nvSpPr>
          <p:cNvPr id="22" name="Text 20"/>
          <p:cNvSpPr/>
          <p:nvPr/>
        </p:nvSpPr>
        <p:spPr>
          <a:xfrm>
            <a:off x="6090543" y="2779911"/>
            <a:ext cx="530342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Public Sans" pitchFamily="34" charset="0"/>
                <a:ea typeface="Public Sans" pitchFamily="34" charset="-122"/>
                <a:cs typeface="Public Sans" pitchFamily="34" charset="-120"/>
              </a:rPr>
              <a:t>The loss is shown</a:t>
            </a:r>
            <a:endParaRPr lang="en-US" sz="1400" dirty="0"/>
          </a:p>
        </p:txBody>
      </p:sp>
      <p:sp>
        <p:nvSpPr>
          <p:cNvPr id="23" name="Text 21"/>
          <p:cNvSpPr/>
          <p:nvPr/>
        </p:nvSpPr>
        <p:spPr>
          <a:xfrm>
            <a:off x="6090543" y="3028801"/>
            <a:ext cx="53034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E0CE"/>
                </a:solidFill>
                <a:latin typeface="Public Sans" pitchFamily="34" charset="0"/>
                <a:ea typeface="Public Sans" pitchFamily="34" charset="-122"/>
                <a:cs typeface="Public Sans" pitchFamily="34" charset="-120"/>
              </a:rPr>
              <a:t>Every model is scored against a naive benchmark.</a:t>
            </a:r>
            <a:endParaRPr lang="en-US" sz="1200" dirty="0"/>
          </a:p>
        </p:txBody>
      </p:sp>
      <p:sp>
        <p:nvSpPr>
          <p:cNvPr id="24" name="Shape 22"/>
          <p:cNvSpPr/>
          <p:nvPr/>
        </p:nvSpPr>
        <p:spPr>
          <a:xfrm>
            <a:off x="5950843" y="3407221"/>
            <a:ext cx="5428357" cy="640011"/>
          </a:xfrm>
          <a:prstGeom prst="roundRect">
            <a:avLst>
              <a:gd name="adj" fmla="val 5953"/>
            </a:avLst>
          </a:prstGeom>
          <a:solidFill>
            <a:srgbClr val="0C3D2C"/>
          </a:solidFill>
          <a:ln/>
        </p:spPr>
      </p:sp>
      <p:sp>
        <p:nvSpPr>
          <p:cNvPr id="25" name="Text 23"/>
          <p:cNvSpPr/>
          <p:nvPr/>
        </p:nvSpPr>
        <p:spPr>
          <a:xfrm>
            <a:off x="6090543" y="3496121"/>
            <a:ext cx="530342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Public Sans" pitchFamily="34" charset="0"/>
                <a:ea typeface="Public Sans" pitchFamily="34" charset="-122"/>
                <a:cs typeface="Public Sans" pitchFamily="34" charset="-120"/>
              </a:rPr>
              <a:t>Review, not verdict</a:t>
            </a:r>
            <a:endParaRPr lang="en-US" sz="1400" dirty="0"/>
          </a:p>
        </p:txBody>
      </p:sp>
      <p:sp>
        <p:nvSpPr>
          <p:cNvPr id="26" name="Text 24"/>
          <p:cNvSpPr/>
          <p:nvPr/>
        </p:nvSpPr>
        <p:spPr>
          <a:xfrm>
            <a:off x="6090543" y="3745012"/>
            <a:ext cx="53034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E0CE"/>
                </a:solidFill>
                <a:latin typeface="Public Sans" pitchFamily="34" charset="0"/>
                <a:ea typeface="Public Sans" pitchFamily="34" charset="-122"/>
                <a:cs typeface="Public Sans" pitchFamily="34" charset="-120"/>
              </a:rPr>
              <a:t>Satellite output is candidate regions for a person.</a:t>
            </a:r>
            <a:endParaRPr lang="en-US" sz="1200" dirty="0"/>
          </a:p>
        </p:txBody>
      </p:sp>
      <p:sp>
        <p:nvSpPr>
          <p:cNvPr id="27" name="Shape 25"/>
          <p:cNvSpPr/>
          <p:nvPr/>
        </p:nvSpPr>
        <p:spPr>
          <a:xfrm>
            <a:off x="5950843" y="4123432"/>
            <a:ext cx="5428357" cy="640011"/>
          </a:xfrm>
          <a:prstGeom prst="roundRect">
            <a:avLst>
              <a:gd name="adj" fmla="val 5953"/>
            </a:avLst>
          </a:prstGeom>
          <a:solidFill>
            <a:srgbClr val="0C3D2C"/>
          </a:solidFill>
          <a:ln/>
        </p:spPr>
      </p:sp>
      <p:sp>
        <p:nvSpPr>
          <p:cNvPr id="28" name="Text 26"/>
          <p:cNvSpPr/>
          <p:nvPr/>
        </p:nvSpPr>
        <p:spPr>
          <a:xfrm>
            <a:off x="6090543" y="4212332"/>
            <a:ext cx="530342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Public Sans" pitchFamily="34" charset="0"/>
                <a:ea typeface="Public Sans" pitchFamily="34" charset="-122"/>
                <a:cs typeface="Public Sans" pitchFamily="34" charset="-120"/>
              </a:rPr>
              <a:t>Explain, never invent</a:t>
            </a:r>
            <a:endParaRPr lang="en-US" sz="1400" dirty="0"/>
          </a:p>
        </p:txBody>
      </p:sp>
      <p:sp>
        <p:nvSpPr>
          <p:cNvPr id="29" name="Text 27"/>
          <p:cNvSpPr/>
          <p:nvPr/>
        </p:nvSpPr>
        <p:spPr>
          <a:xfrm>
            <a:off x="6090543" y="4461222"/>
            <a:ext cx="53034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E0CE"/>
                </a:solidFill>
                <a:latin typeface="Public Sans" pitchFamily="34" charset="0"/>
                <a:ea typeface="Public Sans" pitchFamily="34" charset="-122"/>
                <a:cs typeface="Public Sans" pitchFamily="34" charset="-120"/>
              </a:rPr>
              <a:t>An LLM sees only computed figures and a VERDICT line.</a:t>
            </a:r>
            <a:endParaRPr lang="en-US" sz="1200" dirty="0"/>
          </a:p>
        </p:txBody>
      </p:sp>
      <p:sp>
        <p:nvSpPr>
          <p:cNvPr id="30" name="Text 28"/>
          <p:cNvSpPr/>
          <p:nvPr/>
        </p:nvSpPr>
        <p:spPr>
          <a:xfrm>
            <a:off x="812800" y="4979343"/>
            <a:ext cx="2832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JetBrains Mono" pitchFamily="49" charset="0"/>
                <a:ea typeface="JetBrains Mono" pitchFamily="49" charset="-122"/>
                <a:cs typeface="JetBrains Mono" pitchFamily="49" charset="-120"/>
              </a:rPr>
              <a:t>WHERE EACH CRITERION IS PROVED</a:t>
            </a:r>
            <a:endParaRPr lang="en-US" sz="1200" dirty="0"/>
          </a:p>
        </p:txBody>
      </p:sp>
      <p:sp>
        <p:nvSpPr>
          <p:cNvPr id="31" name="Text 29"/>
          <p:cNvSpPr/>
          <p:nvPr/>
        </p:nvSpPr>
        <p:spPr>
          <a:xfrm>
            <a:off x="3644900" y="4941243"/>
            <a:ext cx="1668711" cy="289520"/>
          </a:xfrm>
          <a:prstGeom prst="roundRect">
            <a:avLst>
              <a:gd name="adj" fmla="val 43866"/>
            </a:avLst>
          </a:prstGeom>
          <a:solidFill>
            <a:srgbClr val="D6ECE0"/>
          </a:solidFill>
          <a:ln/>
        </p:spPr>
        <p:txBody>
          <a:bodyPr wrap="none" lIns="0" tIns="0" rIns="0" bIns="0" rtlCol="0" anchor="ctr">
            <a:normAutofit/>
          </a:bodyPr>
          <a:lstStyle/>
          <a:p>
            <a:pPr algn="ctr"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Innovation: this slide</a:t>
            </a:r>
            <a:endParaRPr lang="en-US" sz="1200" dirty="0"/>
          </a:p>
        </p:txBody>
      </p:sp>
      <p:sp>
        <p:nvSpPr>
          <p:cNvPr id="32" name="Text 30"/>
          <p:cNvSpPr/>
          <p:nvPr/>
        </p:nvSpPr>
        <p:spPr>
          <a:xfrm>
            <a:off x="5402511" y="4941243"/>
            <a:ext cx="1525588" cy="289520"/>
          </a:xfrm>
          <a:prstGeom prst="roundRect">
            <a:avLst>
              <a:gd name="adj" fmla="val 43866"/>
            </a:avLst>
          </a:prstGeom>
          <a:solidFill>
            <a:srgbClr val="D6ECE0"/>
          </a:solidFill>
          <a:ln/>
        </p:spPr>
        <p:txBody>
          <a:bodyPr wrap="none" lIns="0" tIns="0" rIns="0" bIns="0" rtlCol="0" anchor="ctr">
            <a:normAutofit/>
          </a:bodyPr>
          <a:lstStyle/>
          <a:p>
            <a:pPr algn="ctr"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Feasibility: 3, 9, 10</a:t>
            </a:r>
            <a:endParaRPr lang="en-US" sz="1200" dirty="0"/>
          </a:p>
        </p:txBody>
      </p:sp>
      <p:sp>
        <p:nvSpPr>
          <p:cNvPr id="33" name="Text 31"/>
          <p:cNvSpPr/>
          <p:nvPr/>
        </p:nvSpPr>
        <p:spPr>
          <a:xfrm>
            <a:off x="7016998" y="4941243"/>
            <a:ext cx="1108720" cy="289520"/>
          </a:xfrm>
          <a:prstGeom prst="roundRect">
            <a:avLst>
              <a:gd name="adj" fmla="val 43866"/>
            </a:avLst>
          </a:prstGeom>
          <a:solidFill>
            <a:srgbClr val="D6ECE0"/>
          </a:solidFill>
          <a:ln/>
        </p:spPr>
        <p:txBody>
          <a:bodyPr wrap="none" lIns="0" tIns="0" rIns="0" bIns="0" rtlCol="0" anchor="ctr">
            <a:normAutofit/>
          </a:bodyPr>
          <a:lstStyle/>
          <a:p>
            <a:pPr algn="ctr"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Impact: 8, 10</a:t>
            </a:r>
            <a:endParaRPr lang="en-US" sz="1200" dirty="0"/>
          </a:p>
        </p:txBody>
      </p:sp>
      <p:sp>
        <p:nvSpPr>
          <p:cNvPr id="34" name="Text 32"/>
          <p:cNvSpPr/>
          <p:nvPr/>
        </p:nvSpPr>
        <p:spPr>
          <a:xfrm>
            <a:off x="8214618" y="4941243"/>
            <a:ext cx="1113185" cy="289520"/>
          </a:xfrm>
          <a:prstGeom prst="roundRect">
            <a:avLst>
              <a:gd name="adj" fmla="val 43866"/>
            </a:avLst>
          </a:prstGeom>
          <a:solidFill>
            <a:srgbClr val="D6ECE0"/>
          </a:solidFill>
          <a:ln/>
        </p:spPr>
        <p:txBody>
          <a:bodyPr wrap="none" lIns="0" tIns="0" rIns="0" bIns="0" rtlCol="0" anchor="ctr">
            <a:normAutofit/>
          </a:bodyPr>
          <a:lstStyle/>
          <a:p>
            <a:pPr algn="ctr"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Roadmap: 10</a:t>
            </a:r>
            <a:endParaRPr lang="en-US" sz="1200" dirty="0"/>
          </a:p>
        </p:txBody>
      </p:sp>
      <p:sp>
        <p:nvSpPr>
          <p:cNvPr id="35" name="Text 33"/>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Polaris · Team CarbonIQ · Greenovators Hackathon 2026, Track 3</a:t>
            </a:r>
            <a:endParaRPr lang="en-US" sz="1200" dirty="0"/>
          </a:p>
        </p:txBody>
      </p:sp>
      <p:sp>
        <p:nvSpPr>
          <p:cNvPr id="36" name="Text 34"/>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B6B45"/>
                </a:solidFill>
                <a:latin typeface="JetBrains Mono" pitchFamily="49" charset="0"/>
                <a:ea typeface="JetBrains Mono" pitchFamily="49" charset="-122"/>
                <a:cs typeface="JetBrains Mono" pitchFamily="49" charset="-120"/>
              </a:rPr>
              <a:t>SYSTEM ARCHITECTURE · ALL FOUR TASKS</a:t>
            </a:r>
            <a:endParaRPr lang="en-US" sz="1300" dirty="0"/>
          </a:p>
        </p:txBody>
      </p:sp>
      <p:sp>
        <p:nvSpPr>
          <p:cNvPr id="3" name="Text 1"/>
          <p:cNvSpPr/>
          <p:nvPr>
            <p:ph type="title"/>
          </p:nvPr>
        </p:nvSpPr>
        <p:spPr>
          <a:xfrm>
            <a:off x="812800" y="1043930"/>
            <a:ext cx="10883392" cy="398760"/>
          </a:xfrm>
          <a:prstGeom prst="rect">
            <a:avLst/>
          </a:prstGeom>
          <a:noFill/>
          <a:ln/>
        </p:spPr>
        <p:txBody>
          <a:bodyPr wrap="square" lIns="0" tIns="0" rIns="0" bIns="0" rtlCol="0" anchor="t">
            <a:normAutofit/>
          </a:bodyPr>
          <a:lstStyle/>
          <a:p>
            <a:pPr algn="l" indent="0" marL="0">
              <a:lnSpc>
                <a:spcPts val="2940"/>
              </a:lnSpc>
              <a:buNone/>
            </a:pPr>
            <a:r>
              <a:rPr lang="en-US" sz="2800" b="1" i="0" spc="-100" kern="0" dirty="0">
                <a:solidFill>
                  <a:srgbClr val="0C2E22"/>
                </a:solidFill>
                <a:latin typeface="Archivo" pitchFamily="34" charset="0"/>
                <a:ea typeface="Archivo" pitchFamily="34" charset="-122"/>
                <a:cs typeface="Archivo" pitchFamily="34" charset="-120"/>
              </a:rPr>
              <a:t>One server, four engines, public data in, plain words out.</a:t>
            </a:r>
            <a:endParaRPr lang="en-US" sz="2800" dirty="0"/>
          </a:p>
        </p:txBody>
      </p:sp>
      <p:sp>
        <p:nvSpPr>
          <p:cNvPr id="4" name="Shape 2"/>
          <p:cNvSpPr/>
          <p:nvPr/>
        </p:nvSpPr>
        <p:spPr>
          <a:xfrm>
            <a:off x="819150" y="1879550"/>
            <a:ext cx="1955800" cy="960041"/>
          </a:xfrm>
          <a:prstGeom prst="roundRect">
            <a:avLst>
              <a:gd name="adj" fmla="val 4630"/>
            </a:avLst>
          </a:prstGeom>
          <a:solidFill>
            <a:srgbClr val="F2F7F3"/>
          </a:solidFill>
          <a:ln w="12700">
            <a:solidFill>
              <a:srgbClr val="0C2E22"/>
            </a:solidFill>
            <a:prstDash val="solid"/>
          </a:ln>
        </p:spPr>
      </p:sp>
      <p:sp>
        <p:nvSpPr>
          <p:cNvPr id="5" name="Text 3"/>
          <p:cNvSpPr/>
          <p:nvPr/>
        </p:nvSpPr>
        <p:spPr>
          <a:xfrm>
            <a:off x="939800" y="2000200"/>
            <a:ext cx="176593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C2E22"/>
                </a:solidFill>
                <a:latin typeface="Archivo" pitchFamily="34" charset="0"/>
                <a:ea typeface="Archivo" pitchFamily="34" charset="-122"/>
                <a:cs typeface="Archivo" pitchFamily="34" charset="-120"/>
              </a:rPr>
              <a:t>Browser</a:t>
            </a:r>
            <a:endParaRPr lang="en-US" sz="1600" dirty="0"/>
          </a:p>
        </p:txBody>
      </p:sp>
      <p:sp>
        <p:nvSpPr>
          <p:cNvPr id="6" name="Text 4"/>
          <p:cNvSpPr/>
          <p:nvPr/>
        </p:nvSpPr>
        <p:spPr>
          <a:xfrm>
            <a:off x="939800" y="2322761"/>
            <a:ext cx="176593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Next.js 16, React 19. 15 sheets, SVG charts.</a:t>
            </a:r>
            <a:endParaRPr lang="en-US" sz="1200" dirty="0"/>
          </a:p>
        </p:txBody>
      </p:sp>
      <p:pic>
        <p:nvPicPr>
          <p:cNvPr id="7" name="Image 0" descr="connector">    </p:cNvPr>
          <p:cNvPicPr>
            <a:picLocks noChangeAspect="1"/>
          </p:cNvPicPr>
          <p:nvPr/>
        </p:nvPicPr>
        <p:blipFill>
          <a:blip r:embed="rId1"/>
          <a:srcRect l="0" r="0" t="0" b="0"/>
          <a:stretch/>
        </p:blipFill>
        <p:spPr>
          <a:xfrm>
            <a:off x="2882900" y="2321471"/>
            <a:ext cx="317500" cy="76200"/>
          </a:xfrm>
          <a:prstGeom prst="rect">
            <a:avLst/>
          </a:prstGeom>
        </p:spPr>
      </p:pic>
      <p:sp>
        <p:nvSpPr>
          <p:cNvPr id="8" name="Shape 5"/>
          <p:cNvSpPr/>
          <p:nvPr/>
        </p:nvSpPr>
        <p:spPr>
          <a:xfrm>
            <a:off x="3308350" y="1780480"/>
            <a:ext cx="2527300" cy="1158131"/>
          </a:xfrm>
          <a:prstGeom prst="roundRect">
            <a:avLst>
              <a:gd name="adj" fmla="val 3838"/>
            </a:avLst>
          </a:prstGeom>
          <a:solidFill>
            <a:srgbClr val="F2F7F3"/>
          </a:solidFill>
          <a:ln w="12700">
            <a:solidFill>
              <a:srgbClr val="0B6B45"/>
            </a:solidFill>
            <a:prstDash val="solid"/>
          </a:ln>
        </p:spPr>
      </p:sp>
      <p:sp>
        <p:nvSpPr>
          <p:cNvPr id="9" name="Text 6"/>
          <p:cNvSpPr/>
          <p:nvPr/>
        </p:nvSpPr>
        <p:spPr>
          <a:xfrm>
            <a:off x="3429000" y="1901130"/>
            <a:ext cx="235458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B45"/>
                </a:solidFill>
                <a:latin typeface="Archivo" pitchFamily="34" charset="0"/>
                <a:ea typeface="Archivo" pitchFamily="34" charset="-122"/>
                <a:cs typeface="Archivo" pitchFamily="34" charset="-120"/>
              </a:rPr>
              <a:t>Next.js server</a:t>
            </a:r>
            <a:endParaRPr lang="en-US" sz="1600" dirty="0"/>
          </a:p>
        </p:txBody>
      </p:sp>
      <p:sp>
        <p:nvSpPr>
          <p:cNvPr id="10" name="Text 7"/>
          <p:cNvSpPr/>
          <p:nvPr/>
        </p:nvSpPr>
        <p:spPr>
          <a:xfrm>
            <a:off x="3429000" y="2223691"/>
            <a:ext cx="235458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Route handlers, session cookie, quotas, bounded queues, JSON-lines bridge.</a:t>
            </a:r>
            <a:endParaRPr lang="en-US" sz="1200" dirty="0"/>
          </a:p>
        </p:txBody>
      </p:sp>
      <p:pic>
        <p:nvPicPr>
          <p:cNvPr id="11" name="Image 1" descr="connector">    </p:cNvPr>
          <p:cNvPicPr>
            <a:picLocks noChangeAspect="1"/>
          </p:cNvPicPr>
          <p:nvPr/>
        </p:nvPicPr>
        <p:blipFill>
          <a:blip r:embed="rId2"/>
          <a:srcRect l="0" r="0" t="0" b="0"/>
          <a:stretch/>
        </p:blipFill>
        <p:spPr>
          <a:xfrm>
            <a:off x="5943600" y="2321471"/>
            <a:ext cx="317500" cy="76200"/>
          </a:xfrm>
          <a:prstGeom prst="rect">
            <a:avLst/>
          </a:prstGeom>
        </p:spPr>
      </p:pic>
      <p:sp>
        <p:nvSpPr>
          <p:cNvPr id="12" name="Shape 8"/>
          <p:cNvSpPr/>
          <p:nvPr/>
        </p:nvSpPr>
        <p:spPr>
          <a:xfrm>
            <a:off x="6365875" y="1560165"/>
            <a:ext cx="5010150" cy="356840"/>
          </a:xfrm>
          <a:prstGeom prst="roundRect">
            <a:avLst>
              <a:gd name="adj" fmla="val 6228"/>
            </a:avLst>
          </a:prstGeom>
          <a:solidFill>
            <a:srgbClr val="FFFFFF"/>
          </a:solidFill>
          <a:ln w="6350">
            <a:solidFill>
              <a:srgbClr val="C9DCCF"/>
            </a:solidFill>
            <a:prstDash val="solid"/>
          </a:ln>
        </p:spPr>
      </p:sp>
      <p:sp>
        <p:nvSpPr>
          <p:cNvPr id="13" name="Text 9"/>
          <p:cNvSpPr/>
          <p:nvPr/>
        </p:nvSpPr>
        <p:spPr>
          <a:xfrm>
            <a:off x="6470650" y="1614140"/>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Archivo" pitchFamily="34" charset="0"/>
                <a:ea typeface="Archivo" pitchFamily="34" charset="-122"/>
                <a:cs typeface="Archivo" pitchFamily="34" charset="-120"/>
              </a:rPr>
              <a:t>Carbon</a:t>
            </a:r>
            <a:endParaRPr lang="en-US" sz="1400" dirty="0"/>
          </a:p>
        </p:txBody>
      </p:sp>
      <p:sp>
        <p:nvSpPr>
          <p:cNvPr id="14" name="Text 10"/>
          <p:cNvSpPr/>
          <p:nvPr/>
        </p:nvSpPr>
        <p:spPr>
          <a:xfrm>
            <a:off x="7639050" y="1633190"/>
            <a:ext cx="1515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SCOPE · pandas 3</a:t>
            </a:r>
            <a:endParaRPr lang="en-US" sz="1200" dirty="0"/>
          </a:p>
        </p:txBody>
      </p:sp>
      <p:sp>
        <p:nvSpPr>
          <p:cNvPr id="15" name="Shape 11"/>
          <p:cNvSpPr/>
          <p:nvPr/>
        </p:nvSpPr>
        <p:spPr>
          <a:xfrm>
            <a:off x="6365875" y="1974155"/>
            <a:ext cx="5010150" cy="356840"/>
          </a:xfrm>
          <a:prstGeom prst="roundRect">
            <a:avLst>
              <a:gd name="adj" fmla="val 6228"/>
            </a:avLst>
          </a:prstGeom>
          <a:solidFill>
            <a:srgbClr val="FFFFFF"/>
          </a:solidFill>
          <a:ln w="6350">
            <a:solidFill>
              <a:srgbClr val="C9DCCF"/>
            </a:solidFill>
            <a:prstDash val="solid"/>
          </a:ln>
        </p:spPr>
      </p:sp>
      <p:sp>
        <p:nvSpPr>
          <p:cNvPr id="16" name="Text 12"/>
          <p:cNvSpPr/>
          <p:nvPr/>
        </p:nvSpPr>
        <p:spPr>
          <a:xfrm>
            <a:off x="6470650" y="2028130"/>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Archivo" pitchFamily="34" charset="0"/>
                <a:ea typeface="Archivo" pitchFamily="34" charset="-122"/>
                <a:cs typeface="Archivo" pitchFamily="34" charset="-120"/>
              </a:rPr>
              <a:t>Air</a:t>
            </a:r>
            <a:endParaRPr lang="en-US" sz="1400" dirty="0"/>
          </a:p>
        </p:txBody>
      </p:sp>
      <p:sp>
        <p:nvSpPr>
          <p:cNvPr id="17" name="Text 13"/>
          <p:cNvSpPr/>
          <p:nvPr/>
        </p:nvSpPr>
        <p:spPr>
          <a:xfrm>
            <a:off x="7639050" y="2047180"/>
            <a:ext cx="13390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task1 · pandas 2</a:t>
            </a:r>
            <a:endParaRPr lang="en-US" sz="1200" dirty="0"/>
          </a:p>
        </p:txBody>
      </p:sp>
      <p:sp>
        <p:nvSpPr>
          <p:cNvPr id="18" name="Shape 14"/>
          <p:cNvSpPr/>
          <p:nvPr/>
        </p:nvSpPr>
        <p:spPr>
          <a:xfrm>
            <a:off x="6365875" y="2388146"/>
            <a:ext cx="5010150" cy="356840"/>
          </a:xfrm>
          <a:prstGeom prst="roundRect">
            <a:avLst>
              <a:gd name="adj" fmla="val 6228"/>
            </a:avLst>
          </a:prstGeom>
          <a:solidFill>
            <a:srgbClr val="FFFFFF"/>
          </a:solidFill>
          <a:ln w="6350">
            <a:solidFill>
              <a:srgbClr val="C9DCCF"/>
            </a:solidFill>
            <a:prstDash val="solid"/>
          </a:ln>
        </p:spPr>
      </p:sp>
      <p:sp>
        <p:nvSpPr>
          <p:cNvPr id="19" name="Text 15"/>
          <p:cNvSpPr/>
          <p:nvPr/>
        </p:nvSpPr>
        <p:spPr>
          <a:xfrm>
            <a:off x="6470650" y="244212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Archivo" pitchFamily="34" charset="0"/>
                <a:ea typeface="Archivo" pitchFamily="34" charset="-122"/>
                <a:cs typeface="Archivo" pitchFamily="34" charset="-120"/>
              </a:rPr>
              <a:t>Earth</a:t>
            </a:r>
            <a:endParaRPr lang="en-US" sz="1400" dirty="0"/>
          </a:p>
        </p:txBody>
      </p:sp>
      <p:sp>
        <p:nvSpPr>
          <p:cNvPr id="20" name="Text 16"/>
          <p:cNvSpPr/>
          <p:nvPr/>
        </p:nvSpPr>
        <p:spPr>
          <a:xfrm>
            <a:off x="7639050" y="2461171"/>
            <a:ext cx="14069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Task3 · pandas 2</a:t>
            </a:r>
            <a:endParaRPr lang="en-US" sz="1200" dirty="0"/>
          </a:p>
        </p:txBody>
      </p:sp>
      <p:sp>
        <p:nvSpPr>
          <p:cNvPr id="21" name="Shape 17"/>
          <p:cNvSpPr/>
          <p:nvPr/>
        </p:nvSpPr>
        <p:spPr>
          <a:xfrm>
            <a:off x="6365875" y="2802136"/>
            <a:ext cx="5010150" cy="356840"/>
          </a:xfrm>
          <a:prstGeom prst="roundRect">
            <a:avLst>
              <a:gd name="adj" fmla="val 6228"/>
            </a:avLst>
          </a:prstGeom>
          <a:solidFill>
            <a:srgbClr val="FFFFFF"/>
          </a:solidFill>
          <a:ln w="6350">
            <a:solidFill>
              <a:srgbClr val="C9DCCF"/>
            </a:solidFill>
            <a:prstDash val="solid"/>
          </a:ln>
        </p:spPr>
      </p:sp>
      <p:sp>
        <p:nvSpPr>
          <p:cNvPr id="22" name="Text 18"/>
          <p:cNvSpPr/>
          <p:nvPr/>
        </p:nvSpPr>
        <p:spPr>
          <a:xfrm>
            <a:off x="6470650" y="2856111"/>
            <a:ext cx="11303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C2E22"/>
                </a:solidFill>
                <a:latin typeface="Archivo" pitchFamily="34" charset="0"/>
                <a:ea typeface="Archivo" pitchFamily="34" charset="-122"/>
                <a:cs typeface="Archivo" pitchFamily="34" charset="-120"/>
              </a:rPr>
              <a:t>Micro-grid</a:t>
            </a:r>
            <a:endParaRPr lang="en-US" sz="1400" dirty="0"/>
          </a:p>
        </p:txBody>
      </p:sp>
      <p:sp>
        <p:nvSpPr>
          <p:cNvPr id="23" name="Text 19"/>
          <p:cNvSpPr/>
          <p:nvPr/>
        </p:nvSpPr>
        <p:spPr>
          <a:xfrm>
            <a:off x="7639050" y="2875161"/>
            <a:ext cx="17626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netzero-ai · pandas 3</a:t>
            </a:r>
            <a:endParaRPr lang="en-US" sz="1200" dirty="0"/>
          </a:p>
        </p:txBody>
      </p:sp>
      <p:sp>
        <p:nvSpPr>
          <p:cNvPr id="24" name="Shape 20"/>
          <p:cNvSpPr/>
          <p:nvPr/>
        </p:nvSpPr>
        <p:spPr>
          <a:xfrm>
            <a:off x="812800" y="3301851"/>
            <a:ext cx="2565400" cy="579041"/>
          </a:xfrm>
          <a:prstGeom prst="roundRect">
            <a:avLst>
              <a:gd name="adj" fmla="val 6580"/>
            </a:avLst>
          </a:prstGeom>
          <a:solidFill>
            <a:srgbClr val="D6ECE0"/>
          </a:solidFill>
          <a:ln/>
        </p:spPr>
      </p:sp>
      <p:sp>
        <p:nvSpPr>
          <p:cNvPr id="25" name="Text 21"/>
          <p:cNvSpPr/>
          <p:nvPr/>
        </p:nvSpPr>
        <p:spPr>
          <a:xfrm>
            <a:off x="927100" y="3378051"/>
            <a:ext cx="24069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Open-Meteo ERA5</a:t>
            </a:r>
            <a:endParaRPr lang="en-US" sz="1200" dirty="0"/>
          </a:p>
        </p:txBody>
      </p:sp>
      <p:sp>
        <p:nvSpPr>
          <p:cNvPr id="26" name="Text 22"/>
          <p:cNvSpPr/>
          <p:nvPr/>
        </p:nvSpPr>
        <p:spPr>
          <a:xfrm>
            <a:off x="927100" y="3591371"/>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weather and solar</a:t>
            </a:r>
            <a:endParaRPr lang="en-US" sz="1200" dirty="0"/>
          </a:p>
        </p:txBody>
      </p:sp>
      <p:sp>
        <p:nvSpPr>
          <p:cNvPr id="27" name="Shape 23"/>
          <p:cNvSpPr/>
          <p:nvPr/>
        </p:nvSpPr>
        <p:spPr>
          <a:xfrm>
            <a:off x="3479800" y="3301851"/>
            <a:ext cx="2565400" cy="579041"/>
          </a:xfrm>
          <a:prstGeom prst="roundRect">
            <a:avLst>
              <a:gd name="adj" fmla="val 6580"/>
            </a:avLst>
          </a:prstGeom>
          <a:solidFill>
            <a:srgbClr val="D6ECE0"/>
          </a:solidFill>
          <a:ln/>
        </p:spPr>
      </p:sp>
      <p:sp>
        <p:nvSpPr>
          <p:cNvPr id="28" name="Text 24"/>
          <p:cNvSpPr/>
          <p:nvPr/>
        </p:nvSpPr>
        <p:spPr>
          <a:xfrm>
            <a:off x="3594100" y="3378051"/>
            <a:ext cx="24069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Earth Search STAC</a:t>
            </a:r>
            <a:endParaRPr lang="en-US" sz="1200" dirty="0"/>
          </a:p>
        </p:txBody>
      </p:sp>
      <p:sp>
        <p:nvSpPr>
          <p:cNvPr id="29" name="Text 25"/>
          <p:cNvSpPr/>
          <p:nvPr/>
        </p:nvSpPr>
        <p:spPr>
          <a:xfrm>
            <a:off x="3594100" y="3591371"/>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Sentinel-2 L2A</a:t>
            </a:r>
            <a:endParaRPr lang="en-US" sz="1200" dirty="0"/>
          </a:p>
        </p:txBody>
      </p:sp>
      <p:sp>
        <p:nvSpPr>
          <p:cNvPr id="30" name="Shape 26"/>
          <p:cNvSpPr/>
          <p:nvPr/>
        </p:nvSpPr>
        <p:spPr>
          <a:xfrm>
            <a:off x="6146800" y="3301851"/>
            <a:ext cx="2565400" cy="579041"/>
          </a:xfrm>
          <a:prstGeom prst="roundRect">
            <a:avLst>
              <a:gd name="adj" fmla="val 6580"/>
            </a:avLst>
          </a:prstGeom>
          <a:solidFill>
            <a:srgbClr val="D6ECE0"/>
          </a:solidFill>
          <a:ln/>
        </p:spPr>
      </p:sp>
      <p:sp>
        <p:nvSpPr>
          <p:cNvPr id="31" name="Text 27"/>
          <p:cNvSpPr/>
          <p:nvPr/>
        </p:nvSpPr>
        <p:spPr>
          <a:xfrm>
            <a:off x="6261100" y="3378051"/>
            <a:ext cx="24069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NOAA CarbonTracker</a:t>
            </a:r>
            <a:endParaRPr lang="en-US" sz="1200" dirty="0"/>
          </a:p>
        </p:txBody>
      </p:sp>
      <p:sp>
        <p:nvSpPr>
          <p:cNvPr id="32" name="Text 28"/>
          <p:cNvSpPr/>
          <p:nvPr/>
        </p:nvSpPr>
        <p:spPr>
          <a:xfrm>
            <a:off x="6261100" y="3591371"/>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CO₂ histories</a:t>
            </a:r>
            <a:endParaRPr lang="en-US" sz="1200" dirty="0"/>
          </a:p>
        </p:txBody>
      </p:sp>
      <p:sp>
        <p:nvSpPr>
          <p:cNvPr id="33" name="Shape 29"/>
          <p:cNvSpPr/>
          <p:nvPr/>
        </p:nvSpPr>
        <p:spPr>
          <a:xfrm>
            <a:off x="8813800" y="3301851"/>
            <a:ext cx="2565400" cy="579041"/>
          </a:xfrm>
          <a:prstGeom prst="roundRect">
            <a:avLst>
              <a:gd name="adj" fmla="val 6580"/>
            </a:avLst>
          </a:prstGeom>
          <a:solidFill>
            <a:srgbClr val="E6DFF6"/>
          </a:solidFill>
          <a:ln/>
        </p:spPr>
      </p:sp>
      <p:sp>
        <p:nvSpPr>
          <p:cNvPr id="34" name="Text 30"/>
          <p:cNvSpPr/>
          <p:nvPr/>
        </p:nvSpPr>
        <p:spPr>
          <a:xfrm>
            <a:off x="8928100" y="3378051"/>
            <a:ext cx="240690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B2290"/>
                </a:solidFill>
                <a:latin typeface="Public Sans" pitchFamily="34" charset="0"/>
                <a:ea typeface="Public Sans" pitchFamily="34" charset="-122"/>
                <a:cs typeface="Public Sans" pitchFamily="34" charset="-120"/>
              </a:rPr>
              <a:t>Groq analyst</a:t>
            </a:r>
            <a:endParaRPr lang="en-US" sz="1200" dirty="0"/>
          </a:p>
        </p:txBody>
      </p:sp>
      <p:sp>
        <p:nvSpPr>
          <p:cNvPr id="35" name="Text 31"/>
          <p:cNvSpPr/>
          <p:nvPr/>
        </p:nvSpPr>
        <p:spPr>
          <a:xfrm>
            <a:off x="8928100" y="3591371"/>
            <a:ext cx="24069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explains figures</a:t>
            </a:r>
            <a:endParaRPr lang="en-US" sz="1200" dirty="0"/>
          </a:p>
        </p:txBody>
      </p:sp>
      <p:sp>
        <p:nvSpPr>
          <p:cNvPr id="36" name="Shape 32"/>
          <p:cNvSpPr/>
          <p:nvPr/>
        </p:nvSpPr>
        <p:spPr>
          <a:xfrm>
            <a:off x="812800" y="4020592"/>
            <a:ext cx="3268117" cy="800001"/>
          </a:xfrm>
          <a:prstGeom prst="roundRect">
            <a:avLst>
              <a:gd name="adj" fmla="val 3175"/>
            </a:avLst>
          </a:prstGeom>
          <a:solidFill>
            <a:srgbClr val="F2F7F3"/>
          </a:solidFill>
          <a:ln/>
        </p:spPr>
      </p:sp>
      <p:sp>
        <p:nvSpPr>
          <p:cNvPr id="37" name="Shape 33"/>
          <p:cNvSpPr/>
          <p:nvPr/>
        </p:nvSpPr>
        <p:spPr>
          <a:xfrm>
            <a:off x="812800" y="4020592"/>
            <a:ext cx="3268117" cy="800001"/>
          </a:xfrm>
          <a:custGeom>
            <a:avLst/>
            <a:gdLst/>
            <a:ahLst/>
            <a:cxnLst/>
            <a:rect l="l" t="t" r="r" b="b"/>
            <a:pathLst>
              <a:path w="3268117" h="800001">
                <a:moveTo>
                  <a:pt x="0" y="38100"/>
                </a:moveTo>
                <a:lnTo>
                  <a:pt x="0" y="25400"/>
                </a:lnTo>
                <a:arcTo hR="25400" wR="25400" stAng="10800000" swAng="5400000"/>
                <a:lnTo>
                  <a:pt x="3242717" y="0"/>
                </a:lnTo>
                <a:arcTo hR="25400" wR="25400" stAng="16200000" swAng="5400000"/>
                <a:lnTo>
                  <a:pt x="3268117" y="38100"/>
                </a:lnTo>
                <a:lnTo>
                  <a:pt x="0" y="38100"/>
                </a:lnTo>
                <a:close/>
              </a:path>
            </a:pathLst>
          </a:custGeom>
          <a:solidFill>
            <a:srgbClr val="0E7A4F"/>
          </a:solidFill>
          <a:ln/>
        </p:spPr>
      </p:sp>
      <p:sp>
        <p:nvSpPr>
          <p:cNvPr id="38" name="Text 34"/>
          <p:cNvSpPr/>
          <p:nvPr/>
        </p:nvSpPr>
        <p:spPr>
          <a:xfrm>
            <a:off x="914400" y="4134892"/>
            <a:ext cx="31568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7A4F"/>
                </a:solidFill>
                <a:latin typeface="JetBrains Mono" pitchFamily="49" charset="0"/>
                <a:ea typeface="JetBrains Mono" pitchFamily="49" charset="-122"/>
                <a:cs typeface="JetBrains Mono" pitchFamily="49" charset="-120"/>
              </a:rPr>
              <a:t>NOW</a:t>
            </a:r>
            <a:endParaRPr lang="en-US" sz="1200" dirty="0"/>
          </a:p>
        </p:txBody>
      </p:sp>
      <p:sp>
        <p:nvSpPr>
          <p:cNvPr id="39" name="Text 35"/>
          <p:cNvSpPr/>
          <p:nvPr/>
        </p:nvSpPr>
        <p:spPr>
          <a:xfrm>
            <a:off x="914400" y="4348212"/>
            <a:ext cx="315686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One Railway container, four workers, two Python environments.</a:t>
            </a:r>
            <a:endParaRPr lang="en-US" sz="1200" dirty="0"/>
          </a:p>
        </p:txBody>
      </p:sp>
      <p:pic>
        <p:nvPicPr>
          <p:cNvPr id="40" name="Image 2" descr="connector">    </p:cNvPr>
          <p:cNvPicPr>
            <a:picLocks noChangeAspect="1"/>
          </p:cNvPicPr>
          <p:nvPr/>
        </p:nvPicPr>
        <p:blipFill>
          <a:blip r:embed="rId3"/>
          <a:srcRect l="0" r="0" t="0" b="0"/>
          <a:stretch/>
        </p:blipFill>
        <p:spPr>
          <a:xfrm>
            <a:off x="4157117" y="4020592"/>
            <a:ext cx="228600" cy="76200"/>
          </a:xfrm>
          <a:prstGeom prst="rect">
            <a:avLst/>
          </a:prstGeom>
        </p:spPr>
      </p:pic>
      <p:sp>
        <p:nvSpPr>
          <p:cNvPr id="41" name="Shape 36"/>
          <p:cNvSpPr/>
          <p:nvPr/>
        </p:nvSpPr>
        <p:spPr>
          <a:xfrm>
            <a:off x="4461917" y="4020592"/>
            <a:ext cx="3268166" cy="800001"/>
          </a:xfrm>
          <a:prstGeom prst="roundRect">
            <a:avLst>
              <a:gd name="adj" fmla="val 3175"/>
            </a:avLst>
          </a:prstGeom>
          <a:solidFill>
            <a:srgbClr val="F2F7F3"/>
          </a:solidFill>
          <a:ln/>
        </p:spPr>
      </p:sp>
      <p:sp>
        <p:nvSpPr>
          <p:cNvPr id="42" name="Shape 37"/>
          <p:cNvSpPr/>
          <p:nvPr/>
        </p:nvSpPr>
        <p:spPr>
          <a:xfrm>
            <a:off x="4461917" y="4020592"/>
            <a:ext cx="3268166" cy="800001"/>
          </a:xfrm>
          <a:custGeom>
            <a:avLst/>
            <a:gdLst/>
            <a:ahLst/>
            <a:cxnLst/>
            <a:rect l="l" t="t" r="r" b="b"/>
            <a:pathLst>
              <a:path w="3268166" h="800001">
                <a:moveTo>
                  <a:pt x="0" y="38100"/>
                </a:moveTo>
                <a:lnTo>
                  <a:pt x="0" y="25400"/>
                </a:lnTo>
                <a:arcTo hR="25400" wR="25400" stAng="10800000" swAng="5400000"/>
                <a:lnTo>
                  <a:pt x="3242766" y="0"/>
                </a:lnTo>
                <a:arcTo hR="25400" wR="25400" stAng="16200000" swAng="5400000"/>
                <a:lnTo>
                  <a:pt x="3268166" y="38100"/>
                </a:lnTo>
                <a:lnTo>
                  <a:pt x="0" y="38100"/>
                </a:lnTo>
                <a:close/>
              </a:path>
            </a:pathLst>
          </a:custGeom>
          <a:solidFill>
            <a:srgbClr val="1D52C7"/>
          </a:solidFill>
          <a:ln/>
        </p:spPr>
      </p:sp>
      <p:sp>
        <p:nvSpPr>
          <p:cNvPr id="43" name="Text 38"/>
          <p:cNvSpPr/>
          <p:nvPr/>
        </p:nvSpPr>
        <p:spPr>
          <a:xfrm>
            <a:off x="4563517" y="4134892"/>
            <a:ext cx="31569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52C7"/>
                </a:solidFill>
                <a:latin typeface="JetBrains Mono" pitchFamily="49" charset="0"/>
                <a:ea typeface="JetBrains Mono" pitchFamily="49" charset="-122"/>
                <a:cs typeface="JetBrains Mono" pitchFamily="49" charset="-120"/>
              </a:rPr>
              <a:t>NEXT</a:t>
            </a:r>
            <a:endParaRPr lang="en-US" sz="1200" dirty="0"/>
          </a:p>
        </p:txBody>
      </p:sp>
      <p:sp>
        <p:nvSpPr>
          <p:cNvPr id="44" name="Text 39"/>
          <p:cNvSpPr/>
          <p:nvPr/>
        </p:nvSpPr>
        <p:spPr>
          <a:xfrm>
            <a:off x="4563517" y="4348212"/>
            <a:ext cx="3156915"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Persistent volume, scheduled precompute of forecasts.</a:t>
            </a:r>
            <a:endParaRPr lang="en-US" sz="1200" dirty="0"/>
          </a:p>
        </p:txBody>
      </p:sp>
      <p:pic>
        <p:nvPicPr>
          <p:cNvPr id="45" name="Image 3" descr="connector">    </p:cNvPr>
          <p:cNvPicPr>
            <a:picLocks noChangeAspect="1"/>
          </p:cNvPicPr>
          <p:nvPr/>
        </p:nvPicPr>
        <p:blipFill>
          <a:blip r:embed="rId4"/>
          <a:srcRect l="0" r="0" t="0" b="0"/>
          <a:stretch/>
        </p:blipFill>
        <p:spPr>
          <a:xfrm>
            <a:off x="7806283" y="4020592"/>
            <a:ext cx="228600" cy="76200"/>
          </a:xfrm>
          <a:prstGeom prst="rect">
            <a:avLst/>
          </a:prstGeom>
        </p:spPr>
      </p:pic>
      <p:sp>
        <p:nvSpPr>
          <p:cNvPr id="46" name="Shape 40"/>
          <p:cNvSpPr/>
          <p:nvPr/>
        </p:nvSpPr>
        <p:spPr>
          <a:xfrm>
            <a:off x="8111083" y="4020592"/>
            <a:ext cx="3268117" cy="800001"/>
          </a:xfrm>
          <a:prstGeom prst="roundRect">
            <a:avLst>
              <a:gd name="adj" fmla="val 3175"/>
            </a:avLst>
          </a:prstGeom>
          <a:solidFill>
            <a:srgbClr val="F2F7F3"/>
          </a:solidFill>
          <a:ln/>
        </p:spPr>
      </p:sp>
      <p:sp>
        <p:nvSpPr>
          <p:cNvPr id="47" name="Shape 41"/>
          <p:cNvSpPr/>
          <p:nvPr/>
        </p:nvSpPr>
        <p:spPr>
          <a:xfrm>
            <a:off x="8111083" y="4020592"/>
            <a:ext cx="3268117" cy="800001"/>
          </a:xfrm>
          <a:custGeom>
            <a:avLst/>
            <a:gdLst/>
            <a:ahLst/>
            <a:cxnLst/>
            <a:rect l="l" t="t" r="r" b="b"/>
            <a:pathLst>
              <a:path w="3268117" h="800001">
                <a:moveTo>
                  <a:pt x="0" y="38100"/>
                </a:moveTo>
                <a:lnTo>
                  <a:pt x="0" y="25400"/>
                </a:lnTo>
                <a:arcTo hR="25400" wR="25400" stAng="10800000" swAng="5400000"/>
                <a:lnTo>
                  <a:pt x="3242717" y="0"/>
                </a:lnTo>
                <a:arcTo hR="25400" wR="25400" stAng="16200000" swAng="5400000"/>
                <a:lnTo>
                  <a:pt x="3268117" y="38100"/>
                </a:lnTo>
                <a:lnTo>
                  <a:pt x="0" y="38100"/>
                </a:lnTo>
                <a:close/>
              </a:path>
            </a:pathLst>
          </a:custGeom>
          <a:solidFill>
            <a:srgbClr val="5A38B4"/>
          </a:solidFill>
          <a:ln/>
        </p:spPr>
      </p:sp>
      <p:sp>
        <p:nvSpPr>
          <p:cNvPr id="48" name="Text 42"/>
          <p:cNvSpPr/>
          <p:nvPr/>
        </p:nvSpPr>
        <p:spPr>
          <a:xfrm>
            <a:off x="8212683" y="4134892"/>
            <a:ext cx="31568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38B4"/>
                </a:solidFill>
                <a:latin typeface="JetBrains Mono" pitchFamily="49" charset="0"/>
                <a:ea typeface="JetBrains Mono" pitchFamily="49" charset="-122"/>
                <a:cs typeface="JetBrains Mono" pitchFamily="49" charset="-120"/>
              </a:rPr>
              <a:t>SCALE</a:t>
            </a:r>
            <a:endParaRPr lang="en-US" sz="1200" dirty="0"/>
          </a:p>
        </p:txBody>
      </p:sp>
      <p:sp>
        <p:nvSpPr>
          <p:cNvPr id="49" name="Text 43"/>
          <p:cNvSpPr/>
          <p:nvPr/>
        </p:nvSpPr>
        <p:spPr>
          <a:xfrm>
            <a:off x="8212683" y="4348212"/>
            <a:ext cx="315686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Each engine its own service behind a queue, with replicas.</a:t>
            </a:r>
            <a:endParaRPr lang="en-US" sz="1200" dirty="0"/>
          </a:p>
        </p:txBody>
      </p:sp>
      <p:sp>
        <p:nvSpPr>
          <p:cNvPr id="50" name="Text 4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Engines share two environments because they need conflicting library versions</a:t>
            </a:r>
            <a:endParaRPr lang="en-US" sz="1200" dirty="0"/>
          </a:p>
        </p:txBody>
      </p:sp>
      <p:sp>
        <p:nvSpPr>
          <p:cNvPr id="51" name="Text 4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B6B45"/>
                </a:solidFill>
                <a:latin typeface="JetBrains Mono" pitchFamily="49" charset="0"/>
                <a:ea typeface="JetBrains Mono" pitchFamily="49" charset="-122"/>
                <a:cs typeface="JetBrains Mono" pitchFamily="49" charset="-120"/>
              </a:rPr>
              <a:t>TASK ARCHITECTURES · 1 OF 2</a:t>
            </a:r>
            <a:endParaRPr lang="en-US" sz="1300" dirty="0"/>
          </a:p>
        </p:txBody>
      </p:sp>
      <p:sp>
        <p:nvSpPr>
          <p:cNvPr id="3" name="Text 1"/>
          <p:cNvSpPr/>
          <p:nvPr>
            <p:ph type="title"/>
          </p:nvPr>
        </p:nvSpPr>
        <p:spPr>
          <a:xfrm>
            <a:off x="812800" y="1043930"/>
            <a:ext cx="10883392" cy="385415"/>
          </a:xfrm>
          <a:prstGeom prst="rect">
            <a:avLst/>
          </a:prstGeom>
          <a:noFill/>
          <a:ln/>
        </p:spPr>
        <p:txBody>
          <a:bodyPr wrap="square" lIns="0" tIns="0" rIns="0" bIns="0" rtlCol="0" anchor="t">
            <a:normAutofit/>
          </a:bodyPr>
          <a:lstStyle/>
          <a:p>
            <a:pPr algn="l" indent="0" marL="0">
              <a:lnSpc>
                <a:spcPts val="2835"/>
              </a:lnSpc>
              <a:buNone/>
            </a:pPr>
            <a:r>
              <a:rPr lang="en-US" sz="2700" b="1" i="0" spc="-100" kern="0" dirty="0">
                <a:solidFill>
                  <a:srgbClr val="0C2E22"/>
                </a:solidFill>
                <a:latin typeface="Archivo" pitchFamily="34" charset="0"/>
                <a:ea typeface="Archivo" pitchFamily="34" charset="-122"/>
                <a:cs typeface="Archivo" pitchFamily="34" charset="-120"/>
              </a:rPr>
              <a:t>Carbon footprint and satellite imagery.</a:t>
            </a:r>
            <a:endParaRPr lang="en-US" sz="2700" dirty="0"/>
          </a:p>
        </p:txBody>
      </p:sp>
      <p:sp>
        <p:nvSpPr>
          <p:cNvPr id="4" name="Text 2"/>
          <p:cNvSpPr/>
          <p:nvPr/>
        </p:nvSpPr>
        <p:spPr>
          <a:xfrm>
            <a:off x="812800" y="1569045"/>
            <a:ext cx="172253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4480E"/>
                </a:solidFill>
                <a:latin typeface="Archivo" pitchFamily="34" charset="0"/>
                <a:ea typeface="Archivo" pitchFamily="34" charset="-122"/>
                <a:cs typeface="Archivo" pitchFamily="34" charset="-120"/>
              </a:rPr>
              <a:t>Carbon · SCOPE</a:t>
            </a:r>
            <a:endParaRPr lang="en-US" sz="1600" dirty="0"/>
          </a:p>
        </p:txBody>
      </p:sp>
      <p:sp>
        <p:nvSpPr>
          <p:cNvPr id="5" name="Text 3"/>
          <p:cNvSpPr/>
          <p:nvPr/>
        </p:nvSpPr>
        <p:spPr>
          <a:xfrm>
            <a:off x="2535337" y="1604615"/>
            <a:ext cx="37070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Scope 1, 2, 3 estimator with an ML gap-filler</a:t>
            </a:r>
            <a:endParaRPr lang="en-US" sz="1200" dirty="0"/>
          </a:p>
        </p:txBody>
      </p:sp>
      <p:sp>
        <p:nvSpPr>
          <p:cNvPr id="6" name="Shape 4"/>
          <p:cNvSpPr/>
          <p:nvPr/>
        </p:nvSpPr>
        <p:spPr>
          <a:xfrm>
            <a:off x="819150" y="2005905"/>
            <a:ext cx="1871960" cy="612130"/>
          </a:xfrm>
          <a:prstGeom prst="roundRect">
            <a:avLst>
              <a:gd name="adj" fmla="val 7262"/>
            </a:avLst>
          </a:prstGeom>
          <a:solidFill>
            <a:srgbClr val="FFFFFF"/>
          </a:solidFill>
          <a:ln w="12700">
            <a:solidFill>
              <a:srgbClr val="C4480E"/>
            </a:solidFill>
            <a:prstDash val="solid"/>
          </a:ln>
        </p:spPr>
      </p:sp>
      <p:sp>
        <p:nvSpPr>
          <p:cNvPr id="7" name="Text 5"/>
          <p:cNvSpPr/>
          <p:nvPr/>
        </p:nvSpPr>
        <p:spPr>
          <a:xfrm>
            <a:off x="914400" y="2088455"/>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Inputs</a:t>
            </a:r>
            <a:endParaRPr lang="en-US" sz="1300" dirty="0"/>
          </a:p>
        </p:txBody>
      </p:sp>
      <p:sp>
        <p:nvSpPr>
          <p:cNvPr id="8" name="Text 6"/>
          <p:cNvSpPr/>
          <p:nvPr/>
        </p:nvSpPr>
        <p:spPr>
          <a:xfrm>
            <a:off x="914400" y="2344986"/>
            <a:ext cx="17322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fuel, kWh, spend in ₹</a:t>
            </a:r>
            <a:endParaRPr lang="en-US" sz="1200" dirty="0"/>
          </a:p>
        </p:txBody>
      </p:sp>
      <p:pic>
        <p:nvPicPr>
          <p:cNvPr id="9" name="Image 0" descr="connector">    </p:cNvPr>
          <p:cNvPicPr>
            <a:picLocks noChangeAspect="1"/>
          </p:cNvPicPr>
          <p:nvPr/>
        </p:nvPicPr>
        <p:blipFill>
          <a:blip r:embed="rId1"/>
          <a:srcRect l="0" r="0" t="0" b="0"/>
          <a:stretch/>
        </p:blipFill>
        <p:spPr>
          <a:xfrm>
            <a:off x="2748260" y="2273846"/>
            <a:ext cx="190500" cy="76200"/>
          </a:xfrm>
          <a:prstGeom prst="rect">
            <a:avLst/>
          </a:prstGeom>
        </p:spPr>
      </p:pic>
      <p:sp>
        <p:nvSpPr>
          <p:cNvPr id="10" name="Shape 7"/>
          <p:cNvSpPr/>
          <p:nvPr/>
        </p:nvSpPr>
        <p:spPr>
          <a:xfrm>
            <a:off x="2995910" y="2005905"/>
            <a:ext cx="1872010" cy="612130"/>
          </a:xfrm>
          <a:prstGeom prst="roundRect">
            <a:avLst>
              <a:gd name="adj" fmla="val 7262"/>
            </a:avLst>
          </a:prstGeom>
          <a:solidFill>
            <a:srgbClr val="FFFFFF"/>
          </a:solidFill>
          <a:ln w="12700">
            <a:solidFill>
              <a:srgbClr val="C4480E"/>
            </a:solidFill>
            <a:prstDash val="solid"/>
          </a:ln>
        </p:spPr>
      </p:sp>
      <p:sp>
        <p:nvSpPr>
          <p:cNvPr id="11" name="Text 8"/>
          <p:cNvSpPr/>
          <p:nvPr/>
        </p:nvSpPr>
        <p:spPr>
          <a:xfrm>
            <a:off x="3091160" y="2088455"/>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Factors</a:t>
            </a:r>
            <a:endParaRPr lang="en-US" sz="1300" dirty="0"/>
          </a:p>
        </p:txBody>
      </p:sp>
      <p:sp>
        <p:nvSpPr>
          <p:cNvPr id="12" name="Text 9"/>
          <p:cNvSpPr/>
          <p:nvPr/>
        </p:nvSpPr>
        <p:spPr>
          <a:xfrm>
            <a:off x="3091160" y="234498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CEA v22, USEEIO v1.3</a:t>
            </a:r>
            <a:endParaRPr lang="en-US" sz="1200" dirty="0"/>
          </a:p>
        </p:txBody>
      </p:sp>
      <p:pic>
        <p:nvPicPr>
          <p:cNvPr id="13" name="Image 1" descr="connector">    </p:cNvPr>
          <p:cNvPicPr>
            <a:picLocks noChangeAspect="1"/>
          </p:cNvPicPr>
          <p:nvPr/>
        </p:nvPicPr>
        <p:blipFill>
          <a:blip r:embed="rId2"/>
          <a:srcRect l="0" r="0" t="0" b="0"/>
          <a:stretch/>
        </p:blipFill>
        <p:spPr>
          <a:xfrm>
            <a:off x="4925070" y="2273846"/>
            <a:ext cx="190500" cy="76200"/>
          </a:xfrm>
          <a:prstGeom prst="rect">
            <a:avLst/>
          </a:prstGeom>
        </p:spPr>
      </p:pic>
      <p:sp>
        <p:nvSpPr>
          <p:cNvPr id="14" name="Shape 10"/>
          <p:cNvSpPr/>
          <p:nvPr/>
        </p:nvSpPr>
        <p:spPr>
          <a:xfrm>
            <a:off x="5172720" y="2005905"/>
            <a:ext cx="1871960" cy="612130"/>
          </a:xfrm>
          <a:prstGeom prst="roundRect">
            <a:avLst>
              <a:gd name="adj" fmla="val 7262"/>
            </a:avLst>
          </a:prstGeom>
          <a:solidFill>
            <a:srgbClr val="FFFFFF"/>
          </a:solidFill>
          <a:ln w="12700">
            <a:solidFill>
              <a:srgbClr val="C4480E"/>
            </a:solidFill>
            <a:prstDash val="solid"/>
          </a:ln>
        </p:spPr>
      </p:sp>
      <p:sp>
        <p:nvSpPr>
          <p:cNvPr id="15" name="Text 11"/>
          <p:cNvSpPr/>
          <p:nvPr/>
        </p:nvSpPr>
        <p:spPr>
          <a:xfrm>
            <a:off x="5267970" y="2088455"/>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Monte Carlo</a:t>
            </a:r>
            <a:endParaRPr lang="en-US" sz="1300" dirty="0"/>
          </a:p>
        </p:txBody>
      </p:sp>
      <p:sp>
        <p:nvSpPr>
          <p:cNvPr id="16" name="Text 12"/>
          <p:cNvSpPr/>
          <p:nvPr/>
        </p:nvSpPr>
        <p:spPr>
          <a:xfrm>
            <a:off x="5267970" y="2344986"/>
            <a:ext cx="17322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5,000 lognormal draws</a:t>
            </a:r>
            <a:endParaRPr lang="en-US" sz="1200" dirty="0"/>
          </a:p>
        </p:txBody>
      </p:sp>
      <p:pic>
        <p:nvPicPr>
          <p:cNvPr id="17" name="Image 2" descr="connector">    </p:cNvPr>
          <p:cNvPicPr>
            <a:picLocks noChangeAspect="1"/>
          </p:cNvPicPr>
          <p:nvPr/>
        </p:nvPicPr>
        <p:blipFill>
          <a:blip r:embed="rId3"/>
          <a:srcRect l="0" r="0" t="0" b="0"/>
          <a:stretch/>
        </p:blipFill>
        <p:spPr>
          <a:xfrm>
            <a:off x="7101830" y="2273846"/>
            <a:ext cx="190500" cy="76200"/>
          </a:xfrm>
          <a:prstGeom prst="rect">
            <a:avLst/>
          </a:prstGeom>
        </p:spPr>
      </p:pic>
      <p:sp>
        <p:nvSpPr>
          <p:cNvPr id="18" name="Shape 13"/>
          <p:cNvSpPr/>
          <p:nvPr/>
        </p:nvSpPr>
        <p:spPr>
          <a:xfrm>
            <a:off x="7349480" y="2005905"/>
            <a:ext cx="1872010" cy="612130"/>
          </a:xfrm>
          <a:prstGeom prst="roundRect">
            <a:avLst>
              <a:gd name="adj" fmla="val 7262"/>
            </a:avLst>
          </a:prstGeom>
          <a:solidFill>
            <a:srgbClr val="FFFFFF"/>
          </a:solidFill>
          <a:ln w="12700">
            <a:solidFill>
              <a:srgbClr val="C4480E"/>
            </a:solidFill>
            <a:prstDash val="solid"/>
          </a:ln>
        </p:spPr>
      </p:sp>
      <p:sp>
        <p:nvSpPr>
          <p:cNvPr id="19" name="Text 14"/>
          <p:cNvSpPr/>
          <p:nvPr/>
        </p:nvSpPr>
        <p:spPr>
          <a:xfrm>
            <a:off x="7444730" y="2088455"/>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Result</a:t>
            </a:r>
            <a:endParaRPr lang="en-US" sz="1300" dirty="0"/>
          </a:p>
        </p:txBody>
      </p:sp>
      <p:sp>
        <p:nvSpPr>
          <p:cNvPr id="20" name="Text 15"/>
          <p:cNvSpPr/>
          <p:nvPr/>
        </p:nvSpPr>
        <p:spPr>
          <a:xfrm>
            <a:off x="7444730" y="234498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P5 to P95, drivers</a:t>
            </a:r>
            <a:endParaRPr lang="en-US" sz="1200" dirty="0"/>
          </a:p>
        </p:txBody>
      </p:sp>
      <p:pic>
        <p:nvPicPr>
          <p:cNvPr id="21" name="Image 3" descr="connector">    </p:cNvPr>
          <p:cNvPicPr>
            <a:picLocks noChangeAspect="1"/>
          </p:cNvPicPr>
          <p:nvPr/>
        </p:nvPicPr>
        <p:blipFill>
          <a:blip r:embed="rId4"/>
          <a:srcRect l="0" r="0" t="0" b="0"/>
          <a:stretch/>
        </p:blipFill>
        <p:spPr>
          <a:xfrm>
            <a:off x="9278640" y="2273846"/>
            <a:ext cx="190500" cy="76200"/>
          </a:xfrm>
          <a:prstGeom prst="rect">
            <a:avLst/>
          </a:prstGeom>
        </p:spPr>
      </p:pic>
      <p:sp>
        <p:nvSpPr>
          <p:cNvPr id="22" name="Shape 16"/>
          <p:cNvSpPr/>
          <p:nvPr/>
        </p:nvSpPr>
        <p:spPr>
          <a:xfrm>
            <a:off x="9519940" y="1917005"/>
            <a:ext cx="1859260" cy="789930"/>
          </a:xfrm>
          <a:prstGeom prst="roundRect">
            <a:avLst>
              <a:gd name="adj" fmla="val 6431"/>
            </a:avLst>
          </a:prstGeom>
          <a:solidFill>
            <a:srgbClr val="C4480E"/>
          </a:solidFill>
          <a:ln/>
        </p:spPr>
      </p:sp>
      <p:sp>
        <p:nvSpPr>
          <p:cNvPr id="23" name="Text 17"/>
          <p:cNvSpPr/>
          <p:nvPr/>
        </p:nvSpPr>
        <p:spPr>
          <a:xfrm>
            <a:off x="9608840" y="1993205"/>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Public Sans" pitchFamily="34" charset="0"/>
                <a:ea typeface="Public Sans" pitchFamily="34" charset="-122"/>
                <a:cs typeface="Public Sans" pitchFamily="34" charset="-120"/>
              </a:rPr>
              <a:t>Plan</a:t>
            </a:r>
            <a:endParaRPr lang="en-US" sz="1300" dirty="0"/>
          </a:p>
        </p:txBody>
      </p:sp>
      <p:sp>
        <p:nvSpPr>
          <p:cNvPr id="24" name="Text 18"/>
          <p:cNvSpPr/>
          <p:nvPr/>
        </p:nvSpPr>
        <p:spPr>
          <a:xfrm>
            <a:off x="9608840" y="2249736"/>
            <a:ext cx="17322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E9DC"/>
                </a:solidFill>
                <a:latin typeface="Public Sans" pitchFamily="34" charset="0"/>
                <a:ea typeface="Public Sans" pitchFamily="34" charset="-122"/>
                <a:cs typeface="Public Sans" pitchFamily="34" charset="-120"/>
              </a:rPr>
              <a:t>abatement, 2050, runway</a:t>
            </a:r>
            <a:endParaRPr lang="en-US" sz="1200" dirty="0"/>
          </a:p>
        </p:txBody>
      </p:sp>
      <p:sp>
        <p:nvSpPr>
          <p:cNvPr id="25" name="Text 19"/>
          <p:cNvSpPr/>
          <p:nvPr/>
        </p:nvSpPr>
        <p:spPr>
          <a:xfrm>
            <a:off x="812800" y="2770436"/>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Branch: no meter data, so a Ridge gap-filler with conformal 90% intervals estimates S1 and S2 from sector, turnover and renewable share.</a:t>
            </a:r>
            <a:endParaRPr lang="en-US" sz="1200" dirty="0"/>
          </a:p>
        </p:txBody>
      </p:sp>
      <p:sp>
        <p:nvSpPr>
          <p:cNvPr id="26" name="Text 20"/>
          <p:cNvSpPr/>
          <p:nvPr/>
        </p:nvSpPr>
        <p:spPr>
          <a:xfrm>
            <a:off x="812800" y="3133626"/>
            <a:ext cx="140429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7A4F"/>
                </a:solidFill>
                <a:latin typeface="Archivo" pitchFamily="34" charset="0"/>
                <a:ea typeface="Archivo" pitchFamily="34" charset="-122"/>
                <a:cs typeface="Archivo" pitchFamily="34" charset="-120"/>
              </a:rPr>
              <a:t>Earth · Task3</a:t>
            </a:r>
            <a:endParaRPr lang="en-US" sz="1600" dirty="0"/>
          </a:p>
        </p:txBody>
      </p:sp>
      <p:sp>
        <p:nvSpPr>
          <p:cNvPr id="27" name="Text 21"/>
          <p:cNvSpPr/>
          <p:nvPr/>
        </p:nvSpPr>
        <p:spPr>
          <a:xfrm>
            <a:off x="2217093" y="3169196"/>
            <a:ext cx="30952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Forest loss and lake water screening</a:t>
            </a:r>
            <a:endParaRPr lang="en-US" sz="1200" dirty="0"/>
          </a:p>
        </p:txBody>
      </p:sp>
      <p:sp>
        <p:nvSpPr>
          <p:cNvPr id="28" name="Shape 22"/>
          <p:cNvSpPr/>
          <p:nvPr/>
        </p:nvSpPr>
        <p:spPr>
          <a:xfrm>
            <a:off x="819150" y="3487936"/>
            <a:ext cx="1871960" cy="802630"/>
          </a:xfrm>
          <a:prstGeom prst="roundRect">
            <a:avLst>
              <a:gd name="adj" fmla="val 5538"/>
            </a:avLst>
          </a:prstGeom>
          <a:solidFill>
            <a:srgbClr val="FFFFFF"/>
          </a:solidFill>
          <a:ln w="12700">
            <a:solidFill>
              <a:srgbClr val="0E7A4F"/>
            </a:solidFill>
            <a:prstDash val="solid"/>
          </a:ln>
        </p:spPr>
      </p:sp>
      <p:sp>
        <p:nvSpPr>
          <p:cNvPr id="29" name="Text 23"/>
          <p:cNvSpPr/>
          <p:nvPr/>
        </p:nvSpPr>
        <p:spPr>
          <a:xfrm>
            <a:off x="914400" y="357048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Scene pair</a:t>
            </a:r>
            <a:endParaRPr lang="en-US" sz="1300" dirty="0"/>
          </a:p>
        </p:txBody>
      </p:sp>
      <p:sp>
        <p:nvSpPr>
          <p:cNvPr id="30" name="Text 24"/>
          <p:cNvSpPr/>
          <p:nvPr/>
        </p:nvSpPr>
        <p:spPr>
          <a:xfrm>
            <a:off x="914400" y="3827016"/>
            <a:ext cx="17322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Sentinel-2 L2A, cloud-masked</a:t>
            </a:r>
            <a:endParaRPr lang="en-US" sz="1200" dirty="0"/>
          </a:p>
        </p:txBody>
      </p:sp>
      <p:pic>
        <p:nvPicPr>
          <p:cNvPr id="31" name="Image 4" descr="connector">    </p:cNvPr>
          <p:cNvPicPr>
            <a:picLocks noChangeAspect="1"/>
          </p:cNvPicPr>
          <p:nvPr/>
        </p:nvPicPr>
        <p:blipFill>
          <a:blip r:embed="rId5"/>
          <a:srcRect l="0" r="0" t="0" b="0"/>
          <a:stretch/>
        </p:blipFill>
        <p:spPr>
          <a:xfrm>
            <a:off x="2748260" y="3851126"/>
            <a:ext cx="190500" cy="76200"/>
          </a:xfrm>
          <a:prstGeom prst="rect">
            <a:avLst/>
          </a:prstGeom>
        </p:spPr>
      </p:pic>
      <p:sp>
        <p:nvSpPr>
          <p:cNvPr id="32" name="Shape 25"/>
          <p:cNvSpPr/>
          <p:nvPr/>
        </p:nvSpPr>
        <p:spPr>
          <a:xfrm>
            <a:off x="2995910" y="3583186"/>
            <a:ext cx="1872010" cy="612130"/>
          </a:xfrm>
          <a:prstGeom prst="roundRect">
            <a:avLst>
              <a:gd name="adj" fmla="val 7262"/>
            </a:avLst>
          </a:prstGeom>
          <a:solidFill>
            <a:srgbClr val="FFFFFF"/>
          </a:solidFill>
          <a:ln w="12700">
            <a:solidFill>
              <a:srgbClr val="0E7A4F"/>
            </a:solidFill>
            <a:prstDash val="solid"/>
          </a:ln>
        </p:spPr>
      </p:sp>
      <p:sp>
        <p:nvSpPr>
          <p:cNvPr id="33" name="Text 26"/>
          <p:cNvSpPr/>
          <p:nvPr/>
        </p:nvSpPr>
        <p:spPr>
          <a:xfrm>
            <a:off x="3091160" y="3665736"/>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Features</a:t>
            </a:r>
            <a:endParaRPr lang="en-US" sz="1300" dirty="0"/>
          </a:p>
        </p:txBody>
      </p:sp>
      <p:sp>
        <p:nvSpPr>
          <p:cNvPr id="34" name="Text 27"/>
          <p:cNvSpPr/>
          <p:nvPr/>
        </p:nvSpPr>
        <p:spPr>
          <a:xfrm>
            <a:off x="3091160" y="392226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16 index changes</a:t>
            </a:r>
            <a:endParaRPr lang="en-US" sz="1200" dirty="0"/>
          </a:p>
        </p:txBody>
      </p:sp>
      <p:pic>
        <p:nvPicPr>
          <p:cNvPr id="35" name="Image 5" descr="connector">    </p:cNvPr>
          <p:cNvPicPr>
            <a:picLocks noChangeAspect="1"/>
          </p:cNvPicPr>
          <p:nvPr/>
        </p:nvPicPr>
        <p:blipFill>
          <a:blip r:embed="rId6"/>
          <a:srcRect l="0" r="0" t="0" b="0"/>
          <a:stretch/>
        </p:blipFill>
        <p:spPr>
          <a:xfrm>
            <a:off x="4925070" y="3851126"/>
            <a:ext cx="190500" cy="76200"/>
          </a:xfrm>
          <a:prstGeom prst="rect">
            <a:avLst/>
          </a:prstGeom>
        </p:spPr>
      </p:pic>
      <p:sp>
        <p:nvSpPr>
          <p:cNvPr id="36" name="Shape 28"/>
          <p:cNvSpPr/>
          <p:nvPr/>
        </p:nvSpPr>
        <p:spPr>
          <a:xfrm>
            <a:off x="5172720" y="3583186"/>
            <a:ext cx="1871960" cy="612130"/>
          </a:xfrm>
          <a:prstGeom prst="roundRect">
            <a:avLst>
              <a:gd name="adj" fmla="val 7262"/>
            </a:avLst>
          </a:prstGeom>
          <a:solidFill>
            <a:srgbClr val="FFFFFF"/>
          </a:solidFill>
          <a:ln w="12700">
            <a:solidFill>
              <a:srgbClr val="0E7A4F"/>
            </a:solidFill>
            <a:prstDash val="solid"/>
          </a:ln>
        </p:spPr>
      </p:sp>
      <p:sp>
        <p:nvSpPr>
          <p:cNvPr id="37" name="Text 29"/>
          <p:cNvSpPr/>
          <p:nvPr/>
        </p:nvSpPr>
        <p:spPr>
          <a:xfrm>
            <a:off x="5267970" y="366573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Detectors</a:t>
            </a:r>
            <a:endParaRPr lang="en-US" sz="1300" dirty="0"/>
          </a:p>
        </p:txBody>
      </p:sp>
      <p:sp>
        <p:nvSpPr>
          <p:cNvPr id="38" name="Text 30"/>
          <p:cNvSpPr/>
          <p:nvPr/>
        </p:nvSpPr>
        <p:spPr>
          <a:xfrm>
            <a:off x="5267970" y="3922266"/>
            <a:ext cx="17703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forest, NDVI rule, U-Net</a:t>
            </a:r>
            <a:endParaRPr lang="en-US" sz="1200" dirty="0"/>
          </a:p>
        </p:txBody>
      </p:sp>
      <p:pic>
        <p:nvPicPr>
          <p:cNvPr id="39" name="Image 6" descr="connector">    </p:cNvPr>
          <p:cNvPicPr>
            <a:picLocks noChangeAspect="1"/>
          </p:cNvPicPr>
          <p:nvPr/>
        </p:nvPicPr>
        <p:blipFill>
          <a:blip r:embed="rId7"/>
          <a:srcRect l="0" r="0" t="0" b="0"/>
          <a:stretch/>
        </p:blipFill>
        <p:spPr>
          <a:xfrm>
            <a:off x="7101830" y="3851126"/>
            <a:ext cx="190500" cy="76200"/>
          </a:xfrm>
          <a:prstGeom prst="rect">
            <a:avLst/>
          </a:prstGeom>
        </p:spPr>
      </p:pic>
      <p:sp>
        <p:nvSpPr>
          <p:cNvPr id="40" name="Shape 31"/>
          <p:cNvSpPr/>
          <p:nvPr/>
        </p:nvSpPr>
        <p:spPr>
          <a:xfrm>
            <a:off x="7349480" y="3583186"/>
            <a:ext cx="1872010" cy="612130"/>
          </a:xfrm>
          <a:prstGeom prst="roundRect">
            <a:avLst>
              <a:gd name="adj" fmla="val 7262"/>
            </a:avLst>
          </a:prstGeom>
          <a:solidFill>
            <a:srgbClr val="FFFFFF"/>
          </a:solidFill>
          <a:ln w="12700">
            <a:solidFill>
              <a:srgbClr val="0E7A4F"/>
            </a:solidFill>
            <a:prstDash val="solid"/>
          </a:ln>
        </p:spPr>
      </p:sp>
      <p:sp>
        <p:nvSpPr>
          <p:cNvPr id="41" name="Text 32"/>
          <p:cNvSpPr/>
          <p:nvPr/>
        </p:nvSpPr>
        <p:spPr>
          <a:xfrm>
            <a:off x="7444730" y="3665736"/>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Regions</a:t>
            </a:r>
            <a:endParaRPr lang="en-US" sz="1300" dirty="0"/>
          </a:p>
        </p:txBody>
      </p:sp>
      <p:sp>
        <p:nvSpPr>
          <p:cNvPr id="42" name="Text 33"/>
          <p:cNvSpPr/>
          <p:nvPr/>
        </p:nvSpPr>
        <p:spPr>
          <a:xfrm>
            <a:off x="7444730" y="392226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patches in hectares</a:t>
            </a:r>
            <a:endParaRPr lang="en-US" sz="1200" dirty="0"/>
          </a:p>
        </p:txBody>
      </p:sp>
      <p:pic>
        <p:nvPicPr>
          <p:cNvPr id="43" name="Image 7" descr="connector">    </p:cNvPr>
          <p:cNvPicPr>
            <a:picLocks noChangeAspect="1"/>
          </p:cNvPicPr>
          <p:nvPr/>
        </p:nvPicPr>
        <p:blipFill>
          <a:blip r:embed="rId8"/>
          <a:srcRect l="0" r="0" t="0" b="0"/>
          <a:stretch/>
        </p:blipFill>
        <p:spPr>
          <a:xfrm>
            <a:off x="9278640" y="3851126"/>
            <a:ext cx="190500" cy="76200"/>
          </a:xfrm>
          <a:prstGeom prst="rect">
            <a:avLst/>
          </a:prstGeom>
        </p:spPr>
      </p:pic>
      <p:sp>
        <p:nvSpPr>
          <p:cNvPr id="44" name="Shape 34"/>
          <p:cNvSpPr/>
          <p:nvPr/>
        </p:nvSpPr>
        <p:spPr>
          <a:xfrm>
            <a:off x="9519940" y="3589536"/>
            <a:ext cx="1859260" cy="599430"/>
          </a:xfrm>
          <a:prstGeom prst="roundRect">
            <a:avLst>
              <a:gd name="adj" fmla="val 8475"/>
            </a:avLst>
          </a:prstGeom>
          <a:solidFill>
            <a:srgbClr val="0E7A4F"/>
          </a:solidFill>
          <a:ln/>
        </p:spPr>
      </p:sp>
      <p:sp>
        <p:nvSpPr>
          <p:cNvPr id="45" name="Text 35"/>
          <p:cNvSpPr/>
          <p:nvPr/>
        </p:nvSpPr>
        <p:spPr>
          <a:xfrm>
            <a:off x="9608840" y="366573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Public Sans" pitchFamily="34" charset="0"/>
                <a:ea typeface="Public Sans" pitchFamily="34" charset="-122"/>
                <a:cs typeface="Public Sans" pitchFamily="34" charset="-120"/>
              </a:rPr>
              <a:t>Human review</a:t>
            </a:r>
            <a:endParaRPr lang="en-US" sz="1300" dirty="0"/>
          </a:p>
        </p:txBody>
      </p:sp>
      <p:sp>
        <p:nvSpPr>
          <p:cNvPr id="46" name="Text 36"/>
          <p:cNvSpPr/>
          <p:nvPr/>
        </p:nvSpPr>
        <p:spPr>
          <a:xfrm>
            <a:off x="9608840" y="3922266"/>
            <a:ext cx="17322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DDF3E8"/>
                </a:solidFill>
                <a:latin typeface="Public Sans" pitchFamily="34" charset="0"/>
                <a:ea typeface="Public Sans" pitchFamily="34" charset="-122"/>
                <a:cs typeface="Public Sans" pitchFamily="34" charset="-120"/>
              </a:rPr>
              <a:t>status, note, export</a:t>
            </a:r>
            <a:endParaRPr lang="en-US" sz="1200" dirty="0"/>
          </a:p>
        </p:txBody>
      </p:sp>
      <p:sp>
        <p:nvSpPr>
          <p:cNvPr id="47" name="Text 37"/>
          <p:cNvSpPr/>
          <p:nvPr/>
        </p:nvSpPr>
        <p:spPr>
          <a:xfrm>
            <a:off x="812800" y="4360416"/>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Validated on a spatial holdout against Hansen GFC labels: forest F1 0.802 against 0.742 for the NDVI rule.</a:t>
            </a:r>
            <a:endParaRPr lang="en-US" sz="1200" dirty="0"/>
          </a:p>
        </p:txBody>
      </p:sp>
      <p:sp>
        <p:nvSpPr>
          <p:cNvPr id="48" name="Text 3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Each box is a tested module; the arrows are the data that crosses between them</a:t>
            </a:r>
            <a:endParaRPr lang="en-US" sz="1200" dirty="0"/>
          </a:p>
        </p:txBody>
      </p:sp>
      <p:sp>
        <p:nvSpPr>
          <p:cNvPr id="49" name="Text 3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B6B45"/>
                </a:solidFill>
                <a:latin typeface="JetBrains Mono" pitchFamily="49" charset="0"/>
                <a:ea typeface="JetBrains Mono" pitchFamily="49" charset="-122"/>
                <a:cs typeface="JetBrains Mono" pitchFamily="49" charset="-120"/>
              </a:rPr>
              <a:t>TASK ARCHITECTURES · 2 OF 2</a:t>
            </a:r>
            <a:endParaRPr lang="en-US" sz="1300" dirty="0"/>
          </a:p>
        </p:txBody>
      </p:sp>
      <p:sp>
        <p:nvSpPr>
          <p:cNvPr id="3" name="Text 1"/>
          <p:cNvSpPr/>
          <p:nvPr>
            <p:ph type="title"/>
          </p:nvPr>
        </p:nvSpPr>
        <p:spPr>
          <a:xfrm>
            <a:off x="812800" y="1043930"/>
            <a:ext cx="10883392" cy="385415"/>
          </a:xfrm>
          <a:prstGeom prst="rect">
            <a:avLst/>
          </a:prstGeom>
          <a:noFill/>
          <a:ln/>
        </p:spPr>
        <p:txBody>
          <a:bodyPr wrap="square" lIns="0" tIns="0" rIns="0" bIns="0" rtlCol="0" anchor="t">
            <a:normAutofit/>
          </a:bodyPr>
          <a:lstStyle/>
          <a:p>
            <a:pPr algn="l" indent="0" marL="0">
              <a:lnSpc>
                <a:spcPts val="2835"/>
              </a:lnSpc>
              <a:buNone/>
            </a:pPr>
            <a:r>
              <a:rPr lang="en-US" sz="2700" b="1" i="0" spc="-100" kern="0" dirty="0">
                <a:solidFill>
                  <a:srgbClr val="0C2E22"/>
                </a:solidFill>
                <a:latin typeface="Archivo" pitchFamily="34" charset="0"/>
                <a:ea typeface="Archivo" pitchFamily="34" charset="-122"/>
                <a:cs typeface="Archivo" pitchFamily="34" charset="-120"/>
              </a:rPr>
              <a:t>Micro-grid optimisation and gas forecasting.</a:t>
            </a:r>
            <a:endParaRPr lang="en-US" sz="2700" dirty="0"/>
          </a:p>
        </p:txBody>
      </p:sp>
      <p:sp>
        <p:nvSpPr>
          <p:cNvPr id="4" name="Text 2"/>
          <p:cNvSpPr/>
          <p:nvPr/>
        </p:nvSpPr>
        <p:spPr>
          <a:xfrm>
            <a:off x="812800" y="1569045"/>
            <a:ext cx="447104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A38B4"/>
                </a:solidFill>
                <a:latin typeface="Archivo" pitchFamily="34" charset="0"/>
                <a:ea typeface="Archivo" pitchFamily="34" charset="-122"/>
                <a:cs typeface="Archivo" pitchFamily="34" charset="-120"/>
              </a:rPr>
              <a:t>Micro-grid · netzero-ai and SCOPE dispatch</a:t>
            </a:r>
            <a:endParaRPr lang="en-US" sz="1600" dirty="0"/>
          </a:p>
        </p:txBody>
      </p:sp>
      <p:sp>
        <p:nvSpPr>
          <p:cNvPr id="5" name="Text 3"/>
          <p:cNvSpPr/>
          <p:nvPr/>
        </p:nvSpPr>
        <p:spPr>
          <a:xfrm>
            <a:off x="5242520" y="1604615"/>
            <a:ext cx="2566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Forecast, optimise, stress-test</a:t>
            </a:r>
            <a:endParaRPr lang="en-US" sz="1200" dirty="0"/>
          </a:p>
        </p:txBody>
      </p:sp>
      <p:sp>
        <p:nvSpPr>
          <p:cNvPr id="6" name="Shape 4"/>
          <p:cNvSpPr/>
          <p:nvPr/>
        </p:nvSpPr>
        <p:spPr>
          <a:xfrm>
            <a:off x="819150" y="1923355"/>
            <a:ext cx="1871960" cy="802630"/>
          </a:xfrm>
          <a:prstGeom prst="roundRect">
            <a:avLst>
              <a:gd name="adj" fmla="val 5538"/>
            </a:avLst>
          </a:prstGeom>
          <a:solidFill>
            <a:srgbClr val="FFFFFF"/>
          </a:solidFill>
          <a:ln w="12700">
            <a:solidFill>
              <a:srgbClr val="5A38B4"/>
            </a:solidFill>
            <a:prstDash val="solid"/>
          </a:ln>
        </p:spPr>
      </p:sp>
      <p:sp>
        <p:nvSpPr>
          <p:cNvPr id="7" name="Text 5"/>
          <p:cNvSpPr/>
          <p:nvPr/>
        </p:nvSpPr>
        <p:spPr>
          <a:xfrm>
            <a:off x="914400" y="2005905"/>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Weather, load</a:t>
            </a:r>
            <a:endParaRPr lang="en-US" sz="1300" dirty="0"/>
          </a:p>
        </p:txBody>
      </p:sp>
      <p:sp>
        <p:nvSpPr>
          <p:cNvPr id="8" name="Text 6"/>
          <p:cNvSpPr/>
          <p:nvPr/>
        </p:nvSpPr>
        <p:spPr>
          <a:xfrm>
            <a:off x="914400" y="2262436"/>
            <a:ext cx="17322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ERA5, seeded demo day</a:t>
            </a:r>
            <a:endParaRPr lang="en-US" sz="1200" dirty="0"/>
          </a:p>
        </p:txBody>
      </p:sp>
      <p:pic>
        <p:nvPicPr>
          <p:cNvPr id="9" name="Image 0" descr="connector">    </p:cNvPr>
          <p:cNvPicPr>
            <a:picLocks noChangeAspect="1"/>
          </p:cNvPicPr>
          <p:nvPr/>
        </p:nvPicPr>
        <p:blipFill>
          <a:blip r:embed="rId1"/>
          <a:srcRect l="0" r="0" t="0" b="0"/>
          <a:stretch/>
        </p:blipFill>
        <p:spPr>
          <a:xfrm>
            <a:off x="2748260" y="2286546"/>
            <a:ext cx="190500" cy="76200"/>
          </a:xfrm>
          <a:prstGeom prst="rect">
            <a:avLst/>
          </a:prstGeom>
        </p:spPr>
      </p:pic>
      <p:sp>
        <p:nvSpPr>
          <p:cNvPr id="10" name="Shape 7"/>
          <p:cNvSpPr/>
          <p:nvPr/>
        </p:nvSpPr>
        <p:spPr>
          <a:xfrm>
            <a:off x="2995910" y="2018605"/>
            <a:ext cx="1872010" cy="612130"/>
          </a:xfrm>
          <a:prstGeom prst="roundRect">
            <a:avLst>
              <a:gd name="adj" fmla="val 7262"/>
            </a:avLst>
          </a:prstGeom>
          <a:solidFill>
            <a:srgbClr val="FFFFFF"/>
          </a:solidFill>
          <a:ln w="12700">
            <a:solidFill>
              <a:srgbClr val="5A38B4"/>
            </a:solidFill>
            <a:prstDash val="solid"/>
          </a:ln>
        </p:spPr>
      </p:sp>
      <p:sp>
        <p:nvSpPr>
          <p:cNvPr id="11" name="Text 8"/>
          <p:cNvSpPr/>
          <p:nvPr/>
        </p:nvSpPr>
        <p:spPr>
          <a:xfrm>
            <a:off x="3091160" y="2101155"/>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Forecast</a:t>
            </a:r>
            <a:endParaRPr lang="en-US" sz="1300" dirty="0"/>
          </a:p>
        </p:txBody>
      </p:sp>
      <p:sp>
        <p:nvSpPr>
          <p:cNvPr id="12" name="Text 9"/>
          <p:cNvSpPr/>
          <p:nvPr/>
        </p:nvSpPr>
        <p:spPr>
          <a:xfrm>
            <a:off x="3091160" y="235768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XGBoost, LightGBM</a:t>
            </a:r>
            <a:endParaRPr lang="en-US" sz="1200" dirty="0"/>
          </a:p>
        </p:txBody>
      </p:sp>
      <p:pic>
        <p:nvPicPr>
          <p:cNvPr id="13" name="Image 1" descr="connector">    </p:cNvPr>
          <p:cNvPicPr>
            <a:picLocks noChangeAspect="1"/>
          </p:cNvPicPr>
          <p:nvPr/>
        </p:nvPicPr>
        <p:blipFill>
          <a:blip r:embed="rId2"/>
          <a:srcRect l="0" r="0" t="0" b="0"/>
          <a:stretch/>
        </p:blipFill>
        <p:spPr>
          <a:xfrm>
            <a:off x="4925070" y="2286546"/>
            <a:ext cx="190500" cy="76200"/>
          </a:xfrm>
          <a:prstGeom prst="rect">
            <a:avLst/>
          </a:prstGeom>
        </p:spPr>
      </p:pic>
      <p:sp>
        <p:nvSpPr>
          <p:cNvPr id="14" name="Shape 10"/>
          <p:cNvSpPr/>
          <p:nvPr/>
        </p:nvSpPr>
        <p:spPr>
          <a:xfrm>
            <a:off x="5172720" y="2018605"/>
            <a:ext cx="1871960" cy="612130"/>
          </a:xfrm>
          <a:prstGeom prst="roundRect">
            <a:avLst>
              <a:gd name="adj" fmla="val 7262"/>
            </a:avLst>
          </a:prstGeom>
          <a:solidFill>
            <a:srgbClr val="FFFFFF"/>
          </a:solidFill>
          <a:ln w="12700">
            <a:solidFill>
              <a:srgbClr val="5A38B4"/>
            </a:solidFill>
            <a:prstDash val="solid"/>
          </a:ln>
        </p:spPr>
      </p:sp>
      <p:sp>
        <p:nvSpPr>
          <p:cNvPr id="15" name="Text 11"/>
          <p:cNvSpPr/>
          <p:nvPr/>
        </p:nvSpPr>
        <p:spPr>
          <a:xfrm>
            <a:off x="5267970" y="2101155"/>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Optimiser</a:t>
            </a:r>
            <a:endParaRPr lang="en-US" sz="1300" dirty="0"/>
          </a:p>
        </p:txBody>
      </p:sp>
      <p:sp>
        <p:nvSpPr>
          <p:cNvPr id="16" name="Text 12"/>
          <p:cNvSpPr/>
          <p:nvPr/>
        </p:nvSpPr>
        <p:spPr>
          <a:xfrm>
            <a:off x="5267970" y="2357686"/>
            <a:ext cx="17322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Pyomo, HiGHS, MILP</a:t>
            </a:r>
            <a:endParaRPr lang="en-US" sz="1200" dirty="0"/>
          </a:p>
        </p:txBody>
      </p:sp>
      <p:pic>
        <p:nvPicPr>
          <p:cNvPr id="17" name="Image 2" descr="connector">    </p:cNvPr>
          <p:cNvPicPr>
            <a:picLocks noChangeAspect="1"/>
          </p:cNvPicPr>
          <p:nvPr/>
        </p:nvPicPr>
        <p:blipFill>
          <a:blip r:embed="rId3"/>
          <a:srcRect l="0" r="0" t="0" b="0"/>
          <a:stretch/>
        </p:blipFill>
        <p:spPr>
          <a:xfrm>
            <a:off x="7101830" y="2286546"/>
            <a:ext cx="190500" cy="76200"/>
          </a:xfrm>
          <a:prstGeom prst="rect">
            <a:avLst/>
          </a:prstGeom>
        </p:spPr>
      </p:pic>
      <p:sp>
        <p:nvSpPr>
          <p:cNvPr id="18" name="Shape 13"/>
          <p:cNvSpPr/>
          <p:nvPr/>
        </p:nvSpPr>
        <p:spPr>
          <a:xfrm>
            <a:off x="7349480" y="2018605"/>
            <a:ext cx="1872010" cy="612130"/>
          </a:xfrm>
          <a:prstGeom prst="roundRect">
            <a:avLst>
              <a:gd name="adj" fmla="val 7262"/>
            </a:avLst>
          </a:prstGeom>
          <a:solidFill>
            <a:srgbClr val="FFFFFF"/>
          </a:solidFill>
          <a:ln w="12700">
            <a:solidFill>
              <a:srgbClr val="5A38B4"/>
            </a:solidFill>
            <a:prstDash val="solid"/>
          </a:ln>
        </p:spPr>
      </p:sp>
      <p:sp>
        <p:nvSpPr>
          <p:cNvPr id="19" name="Text 14"/>
          <p:cNvSpPr/>
          <p:nvPr/>
        </p:nvSpPr>
        <p:spPr>
          <a:xfrm>
            <a:off x="7444730" y="2101155"/>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Scenarios</a:t>
            </a:r>
            <a:endParaRPr lang="en-US" sz="1300" dirty="0"/>
          </a:p>
        </p:txBody>
      </p:sp>
      <p:sp>
        <p:nvSpPr>
          <p:cNvPr id="20" name="Text 15"/>
          <p:cNvSpPr/>
          <p:nvPr/>
        </p:nvSpPr>
        <p:spPr>
          <a:xfrm>
            <a:off x="7444730" y="235768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5 disturbances</a:t>
            </a:r>
            <a:endParaRPr lang="en-US" sz="1200" dirty="0"/>
          </a:p>
        </p:txBody>
      </p:sp>
      <p:pic>
        <p:nvPicPr>
          <p:cNvPr id="21" name="Image 3" descr="connector">    </p:cNvPr>
          <p:cNvPicPr>
            <a:picLocks noChangeAspect="1"/>
          </p:cNvPicPr>
          <p:nvPr/>
        </p:nvPicPr>
        <p:blipFill>
          <a:blip r:embed="rId4"/>
          <a:srcRect l="0" r="0" t="0" b="0"/>
          <a:stretch/>
        </p:blipFill>
        <p:spPr>
          <a:xfrm>
            <a:off x="9278640" y="2286546"/>
            <a:ext cx="190500" cy="76200"/>
          </a:xfrm>
          <a:prstGeom prst="rect">
            <a:avLst/>
          </a:prstGeom>
        </p:spPr>
      </p:pic>
      <p:sp>
        <p:nvSpPr>
          <p:cNvPr id="22" name="Shape 16"/>
          <p:cNvSpPr/>
          <p:nvPr/>
        </p:nvSpPr>
        <p:spPr>
          <a:xfrm>
            <a:off x="9519940" y="1929705"/>
            <a:ext cx="1859260" cy="789930"/>
          </a:xfrm>
          <a:prstGeom prst="roundRect">
            <a:avLst>
              <a:gd name="adj" fmla="val 6431"/>
            </a:avLst>
          </a:prstGeom>
          <a:solidFill>
            <a:srgbClr val="5A38B4"/>
          </a:solidFill>
          <a:ln/>
        </p:spPr>
      </p:sp>
      <p:sp>
        <p:nvSpPr>
          <p:cNvPr id="23" name="Text 17"/>
          <p:cNvSpPr/>
          <p:nvPr/>
        </p:nvSpPr>
        <p:spPr>
          <a:xfrm>
            <a:off x="9608840" y="2005905"/>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Public Sans" pitchFamily="34" charset="0"/>
                <a:ea typeface="Public Sans" pitchFamily="34" charset="-122"/>
                <a:cs typeface="Public Sans" pitchFamily="34" charset="-120"/>
              </a:rPr>
              <a:t>KPIs</a:t>
            </a:r>
            <a:endParaRPr lang="en-US" sz="1300" dirty="0"/>
          </a:p>
        </p:txBody>
      </p:sp>
      <p:sp>
        <p:nvSpPr>
          <p:cNvPr id="24" name="Text 18"/>
          <p:cNvSpPr/>
          <p:nvPr/>
        </p:nvSpPr>
        <p:spPr>
          <a:xfrm>
            <a:off x="9608840" y="2262436"/>
            <a:ext cx="17322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DE6FB"/>
                </a:solidFill>
                <a:latin typeface="Public Sans" pitchFamily="34" charset="0"/>
                <a:ea typeface="Public Sans" pitchFamily="34" charset="-122"/>
                <a:cs typeface="Public Sans" pitchFamily="34" charset="-120"/>
              </a:rPr>
              <a:t>grid kWh, CO₂, unserved</a:t>
            </a:r>
            <a:endParaRPr lang="en-US" sz="1200" dirty="0"/>
          </a:p>
        </p:txBody>
      </p:sp>
      <p:sp>
        <p:nvSpPr>
          <p:cNvPr id="25" name="Text 19"/>
          <p:cNvSpPr/>
          <p:nvPr/>
        </p:nvSpPr>
        <p:spPr>
          <a:xfrm>
            <a:off x="812800" y="2795836"/>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If no optimal plan exists the sheet falls back to a rule-based schedule and labels it. Polar site: 49,036 to 45,503 L of diesel a year, 7.2% less.</a:t>
            </a:r>
            <a:endParaRPr lang="en-US" sz="1200" dirty="0"/>
          </a:p>
        </p:txBody>
      </p:sp>
      <p:sp>
        <p:nvSpPr>
          <p:cNvPr id="26" name="Text 20"/>
          <p:cNvSpPr/>
          <p:nvPr/>
        </p:nvSpPr>
        <p:spPr>
          <a:xfrm>
            <a:off x="812800" y="3159026"/>
            <a:ext cx="109448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52C7"/>
                </a:solidFill>
                <a:latin typeface="Archivo" pitchFamily="34" charset="0"/>
                <a:ea typeface="Archivo" pitchFamily="34" charset="-122"/>
                <a:cs typeface="Archivo" pitchFamily="34" charset="-120"/>
              </a:rPr>
              <a:t>Air · task1</a:t>
            </a:r>
            <a:endParaRPr lang="en-US" sz="1600" dirty="0"/>
          </a:p>
        </p:txBody>
      </p:sp>
      <p:sp>
        <p:nvSpPr>
          <p:cNvPr id="27" name="Text 21"/>
          <p:cNvSpPr/>
          <p:nvPr/>
        </p:nvSpPr>
        <p:spPr>
          <a:xfrm>
            <a:off x="1907282" y="3194596"/>
            <a:ext cx="41971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Localised CO₂ forecasts with a benchmark verdict</a:t>
            </a:r>
            <a:endParaRPr lang="en-US" sz="1200" dirty="0"/>
          </a:p>
        </p:txBody>
      </p:sp>
      <p:sp>
        <p:nvSpPr>
          <p:cNvPr id="28" name="Shape 22"/>
          <p:cNvSpPr/>
          <p:nvPr/>
        </p:nvSpPr>
        <p:spPr>
          <a:xfrm>
            <a:off x="819150" y="3513336"/>
            <a:ext cx="1871960" cy="802630"/>
          </a:xfrm>
          <a:prstGeom prst="roundRect">
            <a:avLst>
              <a:gd name="adj" fmla="val 5538"/>
            </a:avLst>
          </a:prstGeom>
          <a:solidFill>
            <a:srgbClr val="FFFFFF"/>
          </a:solidFill>
          <a:ln w="12700">
            <a:solidFill>
              <a:srgbClr val="1D52C7"/>
            </a:solidFill>
            <a:prstDash val="solid"/>
          </a:ln>
        </p:spPr>
      </p:sp>
      <p:sp>
        <p:nvSpPr>
          <p:cNvPr id="29" name="Text 23"/>
          <p:cNvSpPr/>
          <p:nvPr/>
        </p:nvSpPr>
        <p:spPr>
          <a:xfrm>
            <a:off x="914400" y="359588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NOAA CT2026</a:t>
            </a:r>
            <a:endParaRPr lang="en-US" sz="1300" dirty="0"/>
          </a:p>
        </p:txBody>
      </p:sp>
      <p:sp>
        <p:nvSpPr>
          <p:cNvPr id="30" name="Text 24"/>
          <p:cNvSpPr/>
          <p:nvPr/>
        </p:nvSpPr>
        <p:spPr>
          <a:xfrm>
            <a:off x="914400" y="3852416"/>
            <a:ext cx="17322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daily boundary-layer CO₂</a:t>
            </a:r>
            <a:endParaRPr lang="en-US" sz="1200" dirty="0"/>
          </a:p>
        </p:txBody>
      </p:sp>
      <p:pic>
        <p:nvPicPr>
          <p:cNvPr id="31" name="Image 4" descr="connector">    </p:cNvPr>
          <p:cNvPicPr>
            <a:picLocks noChangeAspect="1"/>
          </p:cNvPicPr>
          <p:nvPr/>
        </p:nvPicPr>
        <p:blipFill>
          <a:blip r:embed="rId5"/>
          <a:srcRect l="0" r="0" t="0" b="0"/>
          <a:stretch/>
        </p:blipFill>
        <p:spPr>
          <a:xfrm>
            <a:off x="2748260" y="3876526"/>
            <a:ext cx="190500" cy="76200"/>
          </a:xfrm>
          <a:prstGeom prst="rect">
            <a:avLst/>
          </a:prstGeom>
        </p:spPr>
      </p:pic>
      <p:sp>
        <p:nvSpPr>
          <p:cNvPr id="32" name="Shape 25"/>
          <p:cNvSpPr/>
          <p:nvPr/>
        </p:nvSpPr>
        <p:spPr>
          <a:xfrm>
            <a:off x="2995910" y="3608586"/>
            <a:ext cx="1872010" cy="612130"/>
          </a:xfrm>
          <a:prstGeom prst="roundRect">
            <a:avLst>
              <a:gd name="adj" fmla="val 7262"/>
            </a:avLst>
          </a:prstGeom>
          <a:solidFill>
            <a:srgbClr val="FFFFFF"/>
          </a:solidFill>
          <a:ln w="12700">
            <a:solidFill>
              <a:srgbClr val="1D52C7"/>
            </a:solidFill>
            <a:prstDash val="solid"/>
          </a:ln>
        </p:spPr>
      </p:sp>
      <p:sp>
        <p:nvSpPr>
          <p:cNvPr id="33" name="Text 26"/>
          <p:cNvSpPr/>
          <p:nvPr/>
        </p:nvSpPr>
        <p:spPr>
          <a:xfrm>
            <a:off x="3091160" y="3691136"/>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Split</a:t>
            </a:r>
            <a:endParaRPr lang="en-US" sz="1300" dirty="0"/>
          </a:p>
        </p:txBody>
      </p:sp>
      <p:sp>
        <p:nvSpPr>
          <p:cNvPr id="34" name="Text 27"/>
          <p:cNvSpPr/>
          <p:nvPr/>
        </p:nvSpPr>
        <p:spPr>
          <a:xfrm>
            <a:off x="3091160" y="394766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72/14/14 in time</a:t>
            </a:r>
            <a:endParaRPr lang="en-US" sz="1200" dirty="0"/>
          </a:p>
        </p:txBody>
      </p:sp>
      <p:pic>
        <p:nvPicPr>
          <p:cNvPr id="35" name="Image 5" descr="connector">    </p:cNvPr>
          <p:cNvPicPr>
            <a:picLocks noChangeAspect="1"/>
          </p:cNvPicPr>
          <p:nvPr/>
        </p:nvPicPr>
        <p:blipFill>
          <a:blip r:embed="rId6"/>
          <a:srcRect l="0" r="0" t="0" b="0"/>
          <a:stretch/>
        </p:blipFill>
        <p:spPr>
          <a:xfrm>
            <a:off x="4925070" y="3876526"/>
            <a:ext cx="190500" cy="76200"/>
          </a:xfrm>
          <a:prstGeom prst="rect">
            <a:avLst/>
          </a:prstGeom>
        </p:spPr>
      </p:pic>
      <p:sp>
        <p:nvSpPr>
          <p:cNvPr id="36" name="Shape 28"/>
          <p:cNvSpPr/>
          <p:nvPr/>
        </p:nvSpPr>
        <p:spPr>
          <a:xfrm>
            <a:off x="5172720" y="3608586"/>
            <a:ext cx="1871960" cy="612130"/>
          </a:xfrm>
          <a:prstGeom prst="roundRect">
            <a:avLst>
              <a:gd name="adj" fmla="val 7262"/>
            </a:avLst>
          </a:prstGeom>
          <a:solidFill>
            <a:srgbClr val="FFFFFF"/>
          </a:solidFill>
          <a:ln w="12700">
            <a:solidFill>
              <a:srgbClr val="1D52C7"/>
            </a:solidFill>
            <a:prstDash val="solid"/>
          </a:ln>
        </p:spPr>
      </p:sp>
      <p:sp>
        <p:nvSpPr>
          <p:cNvPr id="37" name="Text 29"/>
          <p:cNvSpPr/>
          <p:nvPr/>
        </p:nvSpPr>
        <p:spPr>
          <a:xfrm>
            <a:off x="5267970" y="369113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Models</a:t>
            </a:r>
            <a:endParaRPr lang="en-US" sz="1300" dirty="0"/>
          </a:p>
        </p:txBody>
      </p:sp>
      <p:sp>
        <p:nvSpPr>
          <p:cNvPr id="38" name="Text 30"/>
          <p:cNvSpPr/>
          <p:nvPr/>
        </p:nvSpPr>
        <p:spPr>
          <a:xfrm>
            <a:off x="5267970" y="3947666"/>
            <a:ext cx="17322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Ridge ×2, forest</a:t>
            </a:r>
            <a:endParaRPr lang="en-US" sz="1200" dirty="0"/>
          </a:p>
        </p:txBody>
      </p:sp>
      <p:pic>
        <p:nvPicPr>
          <p:cNvPr id="39" name="Image 6" descr="connector">    </p:cNvPr>
          <p:cNvPicPr>
            <a:picLocks noChangeAspect="1"/>
          </p:cNvPicPr>
          <p:nvPr/>
        </p:nvPicPr>
        <p:blipFill>
          <a:blip r:embed="rId7"/>
          <a:srcRect l="0" r="0" t="0" b="0"/>
          <a:stretch/>
        </p:blipFill>
        <p:spPr>
          <a:xfrm>
            <a:off x="7101830" y="3876526"/>
            <a:ext cx="190500" cy="76200"/>
          </a:xfrm>
          <a:prstGeom prst="rect">
            <a:avLst/>
          </a:prstGeom>
        </p:spPr>
      </p:pic>
      <p:sp>
        <p:nvSpPr>
          <p:cNvPr id="40" name="Shape 31"/>
          <p:cNvSpPr/>
          <p:nvPr/>
        </p:nvSpPr>
        <p:spPr>
          <a:xfrm>
            <a:off x="7349480" y="3608586"/>
            <a:ext cx="1872010" cy="612130"/>
          </a:xfrm>
          <a:prstGeom prst="roundRect">
            <a:avLst>
              <a:gd name="adj" fmla="val 7262"/>
            </a:avLst>
          </a:prstGeom>
          <a:solidFill>
            <a:srgbClr val="FFFFFF"/>
          </a:solidFill>
          <a:ln w="12700">
            <a:solidFill>
              <a:srgbClr val="1D52C7"/>
            </a:solidFill>
            <a:prstDash val="solid"/>
          </a:ln>
        </p:spPr>
      </p:sp>
      <p:sp>
        <p:nvSpPr>
          <p:cNvPr id="41" name="Text 32"/>
          <p:cNvSpPr/>
          <p:nvPr/>
        </p:nvSpPr>
        <p:spPr>
          <a:xfrm>
            <a:off x="7444730" y="3691136"/>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Bands</a:t>
            </a:r>
            <a:endParaRPr lang="en-US" sz="1300" dirty="0"/>
          </a:p>
        </p:txBody>
      </p:sp>
      <p:sp>
        <p:nvSpPr>
          <p:cNvPr id="42" name="Text 33"/>
          <p:cNvSpPr/>
          <p:nvPr/>
        </p:nvSpPr>
        <p:spPr>
          <a:xfrm>
            <a:off x="7444730" y="3947666"/>
            <a:ext cx="173231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90% from calibration</a:t>
            </a:r>
            <a:endParaRPr lang="en-US" sz="1200" dirty="0"/>
          </a:p>
        </p:txBody>
      </p:sp>
      <p:pic>
        <p:nvPicPr>
          <p:cNvPr id="43" name="Image 7" descr="connector">    </p:cNvPr>
          <p:cNvPicPr>
            <a:picLocks noChangeAspect="1"/>
          </p:cNvPicPr>
          <p:nvPr/>
        </p:nvPicPr>
        <p:blipFill>
          <a:blip r:embed="rId8"/>
          <a:srcRect l="0" r="0" t="0" b="0"/>
          <a:stretch/>
        </p:blipFill>
        <p:spPr>
          <a:xfrm>
            <a:off x="9278640" y="3876526"/>
            <a:ext cx="190500" cy="76200"/>
          </a:xfrm>
          <a:prstGeom prst="rect">
            <a:avLst/>
          </a:prstGeom>
        </p:spPr>
      </p:pic>
      <p:sp>
        <p:nvSpPr>
          <p:cNvPr id="44" name="Shape 34"/>
          <p:cNvSpPr/>
          <p:nvPr/>
        </p:nvSpPr>
        <p:spPr>
          <a:xfrm>
            <a:off x="9519940" y="3614936"/>
            <a:ext cx="1859260" cy="599430"/>
          </a:xfrm>
          <a:prstGeom prst="roundRect">
            <a:avLst>
              <a:gd name="adj" fmla="val 8475"/>
            </a:avLst>
          </a:prstGeom>
          <a:solidFill>
            <a:srgbClr val="1D52C7"/>
          </a:solidFill>
          <a:ln/>
        </p:spPr>
      </p:sp>
      <p:sp>
        <p:nvSpPr>
          <p:cNvPr id="45" name="Text 35"/>
          <p:cNvSpPr/>
          <p:nvPr/>
        </p:nvSpPr>
        <p:spPr>
          <a:xfrm>
            <a:off x="9608840" y="369113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Public Sans" pitchFamily="34" charset="0"/>
                <a:ea typeface="Public Sans" pitchFamily="34" charset="-122"/>
                <a:cs typeface="Public Sans" pitchFamily="34" charset="-120"/>
              </a:rPr>
              <a:t>Verdict</a:t>
            </a:r>
            <a:endParaRPr lang="en-US" sz="1300" dirty="0"/>
          </a:p>
        </p:txBody>
      </p:sp>
      <p:sp>
        <p:nvSpPr>
          <p:cNvPr id="46" name="Text 36"/>
          <p:cNvSpPr/>
          <p:nvPr/>
        </p:nvSpPr>
        <p:spPr>
          <a:xfrm>
            <a:off x="9608840" y="3947666"/>
            <a:ext cx="17322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DCE7FB"/>
                </a:solidFill>
                <a:latin typeface="Public Sans" pitchFamily="34" charset="0"/>
                <a:ea typeface="Public Sans" pitchFamily="34" charset="-122"/>
                <a:cs typeface="Public Sans" pitchFamily="34" charset="-120"/>
              </a:rPr>
              <a:t>skill vs persistence</a:t>
            </a:r>
            <a:endParaRPr lang="en-US" sz="1200" dirty="0"/>
          </a:p>
        </p:txBody>
      </p:sp>
      <p:sp>
        <p:nvSpPr>
          <p:cNvPr id="47" name="Text 37"/>
          <p:cNvSpPr/>
          <p:nvPr/>
        </p:nvSpPr>
        <p:spPr>
          <a:xfrm>
            <a:off x="812800" y="4385816"/>
            <a:ext cx="1088339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7503F"/>
                </a:solidFill>
                <a:latin typeface="Public Sans" pitchFamily="34" charset="0"/>
                <a:ea typeface="Public Sans" pitchFamily="34" charset="-122"/>
                <a:cs typeface="Public Sans" pitchFamily="34" charset="-120"/>
              </a:rPr>
              <a:t>Noida +15.5% over persistence; Ahmedabad −52.3%, shown with a red banner rather than hidden.</a:t>
            </a:r>
            <a:endParaRPr lang="en-US" sz="1200" dirty="0"/>
          </a:p>
        </p:txBody>
      </p:sp>
      <p:sp>
        <p:nvSpPr>
          <p:cNvPr id="48" name="Shape 38"/>
          <p:cNvSpPr/>
          <p:nvPr/>
        </p:nvSpPr>
        <p:spPr>
          <a:xfrm>
            <a:off x="812800" y="4749006"/>
            <a:ext cx="10566400" cy="444500"/>
          </a:xfrm>
          <a:prstGeom prst="roundRect">
            <a:avLst>
              <a:gd name="adj" fmla="val 11429"/>
            </a:avLst>
          </a:prstGeom>
          <a:solidFill>
            <a:srgbClr val="0C3D2C"/>
          </a:solidFill>
          <a:ln/>
        </p:spPr>
      </p:sp>
      <p:sp>
        <p:nvSpPr>
          <p:cNvPr id="49" name="Text 39"/>
          <p:cNvSpPr/>
          <p:nvPr/>
        </p:nvSpPr>
        <p:spPr>
          <a:xfrm>
            <a:off x="952500" y="4837906"/>
            <a:ext cx="7728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Archivo" pitchFamily="34" charset="0"/>
                <a:ea typeface="Archivo" pitchFamily="34" charset="-122"/>
                <a:cs typeface="Archivo" pitchFamily="34" charset="-120"/>
              </a:rPr>
              <a:t>Shared</a:t>
            </a:r>
            <a:endParaRPr lang="en-US" sz="1500" dirty="0"/>
          </a:p>
        </p:txBody>
      </p:sp>
      <p:sp>
        <p:nvSpPr>
          <p:cNvPr id="50" name="Text 40"/>
          <p:cNvSpPr/>
          <p:nvPr/>
        </p:nvSpPr>
        <p:spPr>
          <a:xfrm>
            <a:off x="1725364" y="4872186"/>
            <a:ext cx="749099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FE0CE"/>
                </a:solidFill>
                <a:latin typeface="Public Sans" pitchFamily="34" charset="0"/>
                <a:ea typeface="Public Sans" pitchFamily="34" charset="-122"/>
                <a:cs typeface="Public Sans" pitchFamily="34" charset="-120"/>
              </a:rPr>
              <a:t>Every task ends in the same analyst: computed figures, a VERDICT line, then plain words.</a:t>
            </a:r>
            <a:endParaRPr lang="en-US" sz="1200" dirty="0"/>
          </a:p>
        </p:txBody>
      </p:sp>
      <p:sp>
        <p:nvSpPr>
          <p:cNvPr id="51" name="Text 4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Micro-grid data is synthetic demo data; the polar site uses ERA5 weather and simulated demand</a:t>
            </a:r>
            <a:endParaRPr lang="en-US" sz="1200" dirty="0"/>
          </a:p>
        </p:txBody>
      </p:sp>
      <p:sp>
        <p:nvSpPr>
          <p:cNvPr id="52" name="Text 42"/>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B6B45"/>
                </a:solidFill>
                <a:latin typeface="JetBrains Mono" pitchFamily="49" charset="0"/>
                <a:ea typeface="JetBrains Mono" pitchFamily="49" charset="-122"/>
                <a:cs typeface="JetBrains Mono" pitchFamily="49" charset="-120"/>
              </a:rPr>
              <a:t>USER FLOW</a:t>
            </a:r>
            <a:endParaRPr lang="en-US" sz="1300" dirty="0"/>
          </a:p>
        </p:txBody>
      </p:sp>
      <p:sp>
        <p:nvSpPr>
          <p:cNvPr id="3" name="Text 1"/>
          <p:cNvSpPr/>
          <p:nvPr>
            <p:ph type="title"/>
          </p:nvPr>
        </p:nvSpPr>
        <p:spPr>
          <a:xfrm>
            <a:off x="812800" y="1043930"/>
            <a:ext cx="10883392" cy="385415"/>
          </a:xfrm>
          <a:prstGeom prst="rect">
            <a:avLst/>
          </a:prstGeom>
          <a:noFill/>
          <a:ln/>
        </p:spPr>
        <p:txBody>
          <a:bodyPr wrap="square" lIns="0" tIns="0" rIns="0" bIns="0" rtlCol="0" anchor="t">
            <a:normAutofit/>
          </a:bodyPr>
          <a:lstStyle/>
          <a:p>
            <a:pPr algn="l" indent="0" marL="0">
              <a:lnSpc>
                <a:spcPts val="2835"/>
              </a:lnSpc>
              <a:buNone/>
            </a:pPr>
            <a:r>
              <a:rPr lang="en-US" sz="2700" b="1" i="0" spc="-100" kern="0" dirty="0">
                <a:solidFill>
                  <a:srgbClr val="0C2E22"/>
                </a:solidFill>
                <a:latin typeface="Archivo" pitchFamily="34" charset="0"/>
                <a:ea typeface="Archivo" pitchFamily="34" charset="-122"/>
                <a:cs typeface="Archivo" pitchFamily="34" charset="-120"/>
              </a:rPr>
              <a:t>From landing page to a decision, in five steps.</a:t>
            </a:r>
            <a:endParaRPr lang="en-US" sz="2700" dirty="0"/>
          </a:p>
        </p:txBody>
      </p:sp>
      <p:sp>
        <p:nvSpPr>
          <p:cNvPr id="4" name="Shape 2"/>
          <p:cNvSpPr/>
          <p:nvPr/>
        </p:nvSpPr>
        <p:spPr>
          <a:xfrm>
            <a:off x="819150" y="1562695"/>
            <a:ext cx="1871960" cy="1092150"/>
          </a:xfrm>
          <a:prstGeom prst="roundRect">
            <a:avLst>
              <a:gd name="adj" fmla="val 4070"/>
            </a:avLst>
          </a:prstGeom>
          <a:solidFill>
            <a:srgbClr val="F2F7F3"/>
          </a:solidFill>
          <a:ln w="12700">
            <a:solidFill>
              <a:srgbClr val="0C2E22"/>
            </a:solidFill>
            <a:prstDash val="solid"/>
          </a:ln>
        </p:spPr>
      </p:sp>
      <p:sp>
        <p:nvSpPr>
          <p:cNvPr id="5" name="Text 3"/>
          <p:cNvSpPr/>
          <p:nvPr/>
        </p:nvSpPr>
        <p:spPr>
          <a:xfrm>
            <a:off x="914400" y="1657945"/>
            <a:ext cx="1732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B45"/>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914400" y="190936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Land</a:t>
            </a:r>
            <a:endParaRPr lang="en-US" sz="1300" dirty="0"/>
          </a:p>
        </p:txBody>
      </p:sp>
      <p:sp>
        <p:nvSpPr>
          <p:cNvPr id="7" name="Text 5"/>
          <p:cNvSpPr/>
          <p:nvPr/>
        </p:nvSpPr>
        <p:spPr>
          <a:xfrm>
            <a:off x="914400" y="2178596"/>
            <a:ext cx="17322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Overview with four live readings</a:t>
            </a:r>
            <a:endParaRPr lang="en-US" sz="1200" dirty="0"/>
          </a:p>
        </p:txBody>
      </p:sp>
      <p:pic>
        <p:nvPicPr>
          <p:cNvPr id="8" name="Image 0" descr="connector">    </p:cNvPr>
          <p:cNvPicPr>
            <a:picLocks noChangeAspect="1"/>
          </p:cNvPicPr>
          <p:nvPr/>
        </p:nvPicPr>
        <p:blipFill>
          <a:blip r:embed="rId1"/>
          <a:srcRect l="0" r="0" t="0" b="0"/>
          <a:stretch/>
        </p:blipFill>
        <p:spPr>
          <a:xfrm>
            <a:off x="2748260" y="2070646"/>
            <a:ext cx="190500" cy="76200"/>
          </a:xfrm>
          <a:prstGeom prst="rect">
            <a:avLst/>
          </a:prstGeom>
        </p:spPr>
      </p:pic>
      <p:sp>
        <p:nvSpPr>
          <p:cNvPr id="9" name="Shape 6"/>
          <p:cNvSpPr/>
          <p:nvPr/>
        </p:nvSpPr>
        <p:spPr>
          <a:xfrm>
            <a:off x="2995910" y="1562695"/>
            <a:ext cx="1872010" cy="1092150"/>
          </a:xfrm>
          <a:prstGeom prst="roundRect">
            <a:avLst>
              <a:gd name="adj" fmla="val 4070"/>
            </a:avLst>
          </a:prstGeom>
          <a:solidFill>
            <a:srgbClr val="F2F7F3"/>
          </a:solidFill>
          <a:ln w="12700">
            <a:solidFill>
              <a:srgbClr val="0C2E22"/>
            </a:solidFill>
            <a:prstDash val="solid"/>
          </a:ln>
        </p:spPr>
      </p:sp>
      <p:sp>
        <p:nvSpPr>
          <p:cNvPr id="10" name="Text 7"/>
          <p:cNvSpPr/>
          <p:nvPr/>
        </p:nvSpPr>
        <p:spPr>
          <a:xfrm>
            <a:off x="3091160" y="1657945"/>
            <a:ext cx="17323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B45"/>
                </a:solidFill>
                <a:latin typeface="JetBrains Mono" pitchFamily="49" charset="0"/>
                <a:ea typeface="JetBrains Mono" pitchFamily="49" charset="-122"/>
                <a:cs typeface="JetBrains Mono" pitchFamily="49" charset="-120"/>
              </a:rPr>
              <a:t>2</a:t>
            </a:r>
            <a:endParaRPr lang="en-US" sz="1200" dirty="0"/>
          </a:p>
        </p:txBody>
      </p:sp>
      <p:sp>
        <p:nvSpPr>
          <p:cNvPr id="11" name="Text 8"/>
          <p:cNvSpPr/>
          <p:nvPr/>
        </p:nvSpPr>
        <p:spPr>
          <a:xfrm>
            <a:off x="3091160" y="1909366"/>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Choose</a:t>
            </a:r>
            <a:endParaRPr lang="en-US" sz="1300" dirty="0"/>
          </a:p>
        </p:txBody>
      </p:sp>
      <p:sp>
        <p:nvSpPr>
          <p:cNvPr id="12" name="Text 9"/>
          <p:cNvSpPr/>
          <p:nvPr/>
        </p:nvSpPr>
        <p:spPr>
          <a:xfrm>
            <a:off x="3091160" y="2178596"/>
            <a:ext cx="173231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Measure, Track, See, Cut or Check</a:t>
            </a:r>
            <a:endParaRPr lang="en-US" sz="1200" dirty="0"/>
          </a:p>
        </p:txBody>
      </p:sp>
      <p:pic>
        <p:nvPicPr>
          <p:cNvPr id="13" name="Image 1" descr="connector">    </p:cNvPr>
          <p:cNvPicPr>
            <a:picLocks noChangeAspect="1"/>
          </p:cNvPicPr>
          <p:nvPr/>
        </p:nvPicPr>
        <p:blipFill>
          <a:blip r:embed="rId2"/>
          <a:srcRect l="0" r="0" t="0" b="0"/>
          <a:stretch/>
        </p:blipFill>
        <p:spPr>
          <a:xfrm>
            <a:off x="4925070" y="2070646"/>
            <a:ext cx="190500" cy="76200"/>
          </a:xfrm>
          <a:prstGeom prst="rect">
            <a:avLst/>
          </a:prstGeom>
        </p:spPr>
      </p:pic>
      <p:sp>
        <p:nvSpPr>
          <p:cNvPr id="14" name="Shape 10"/>
          <p:cNvSpPr/>
          <p:nvPr/>
        </p:nvSpPr>
        <p:spPr>
          <a:xfrm>
            <a:off x="5172720" y="1562695"/>
            <a:ext cx="1871960" cy="1092150"/>
          </a:xfrm>
          <a:prstGeom prst="roundRect">
            <a:avLst>
              <a:gd name="adj" fmla="val 4070"/>
            </a:avLst>
          </a:prstGeom>
          <a:solidFill>
            <a:srgbClr val="F2F7F3"/>
          </a:solidFill>
          <a:ln w="12700">
            <a:solidFill>
              <a:srgbClr val="0C2E22"/>
            </a:solidFill>
            <a:prstDash val="solid"/>
          </a:ln>
        </p:spPr>
      </p:sp>
      <p:sp>
        <p:nvSpPr>
          <p:cNvPr id="15" name="Text 11"/>
          <p:cNvSpPr/>
          <p:nvPr/>
        </p:nvSpPr>
        <p:spPr>
          <a:xfrm>
            <a:off x="5267970" y="1657945"/>
            <a:ext cx="1732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B45"/>
                </a:solidFill>
                <a:latin typeface="JetBrains Mono" pitchFamily="49" charset="0"/>
                <a:ea typeface="JetBrains Mono" pitchFamily="49" charset="-122"/>
                <a:cs typeface="JetBrains Mono" pitchFamily="49" charset="-120"/>
              </a:rPr>
              <a:t>3</a:t>
            </a:r>
            <a:endParaRPr lang="en-US" sz="1200" dirty="0"/>
          </a:p>
        </p:txBody>
      </p:sp>
      <p:sp>
        <p:nvSpPr>
          <p:cNvPr id="16" name="Text 12"/>
          <p:cNvSpPr/>
          <p:nvPr/>
        </p:nvSpPr>
        <p:spPr>
          <a:xfrm>
            <a:off x="5267970" y="190936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Enter</a:t>
            </a:r>
            <a:endParaRPr lang="en-US" sz="1300" dirty="0"/>
          </a:p>
        </p:txBody>
      </p:sp>
      <p:sp>
        <p:nvSpPr>
          <p:cNvPr id="17" name="Text 13"/>
          <p:cNvSpPr/>
          <p:nvPr/>
        </p:nvSpPr>
        <p:spPr>
          <a:xfrm>
            <a:off x="5267970" y="2178596"/>
            <a:ext cx="173226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Inputs, a city, a scenario or a scene</a:t>
            </a:r>
            <a:endParaRPr lang="en-US" sz="1200" dirty="0"/>
          </a:p>
        </p:txBody>
      </p:sp>
      <p:pic>
        <p:nvPicPr>
          <p:cNvPr id="18" name="Image 2" descr="connector">    </p:cNvPr>
          <p:cNvPicPr>
            <a:picLocks noChangeAspect="1"/>
          </p:cNvPicPr>
          <p:nvPr/>
        </p:nvPicPr>
        <p:blipFill>
          <a:blip r:embed="rId3"/>
          <a:srcRect l="0" r="0" t="0" b="0"/>
          <a:stretch/>
        </p:blipFill>
        <p:spPr>
          <a:xfrm>
            <a:off x="7101830" y="2070646"/>
            <a:ext cx="190500" cy="76200"/>
          </a:xfrm>
          <a:prstGeom prst="rect">
            <a:avLst/>
          </a:prstGeom>
        </p:spPr>
      </p:pic>
      <p:sp>
        <p:nvSpPr>
          <p:cNvPr id="19" name="Shape 14"/>
          <p:cNvSpPr/>
          <p:nvPr/>
        </p:nvSpPr>
        <p:spPr>
          <a:xfrm>
            <a:off x="7349480" y="1562695"/>
            <a:ext cx="1872010" cy="1092150"/>
          </a:xfrm>
          <a:prstGeom prst="roundRect">
            <a:avLst>
              <a:gd name="adj" fmla="val 4070"/>
            </a:avLst>
          </a:prstGeom>
          <a:solidFill>
            <a:srgbClr val="F2F7F3"/>
          </a:solidFill>
          <a:ln w="12700">
            <a:solidFill>
              <a:srgbClr val="0C2E22"/>
            </a:solidFill>
            <a:prstDash val="solid"/>
          </a:ln>
        </p:spPr>
      </p:sp>
      <p:sp>
        <p:nvSpPr>
          <p:cNvPr id="20" name="Text 15"/>
          <p:cNvSpPr/>
          <p:nvPr/>
        </p:nvSpPr>
        <p:spPr>
          <a:xfrm>
            <a:off x="7444730" y="1657945"/>
            <a:ext cx="17323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6B45"/>
                </a:solidFill>
                <a:latin typeface="JetBrains Mono" pitchFamily="49" charset="0"/>
                <a:ea typeface="JetBrains Mono" pitchFamily="49" charset="-122"/>
                <a:cs typeface="JetBrains Mono" pitchFamily="49" charset="-120"/>
              </a:rPr>
              <a:t>4</a:t>
            </a:r>
            <a:endParaRPr lang="en-US" sz="1200" dirty="0"/>
          </a:p>
        </p:txBody>
      </p:sp>
      <p:sp>
        <p:nvSpPr>
          <p:cNvPr id="21" name="Text 16"/>
          <p:cNvSpPr/>
          <p:nvPr/>
        </p:nvSpPr>
        <p:spPr>
          <a:xfrm>
            <a:off x="7444730" y="1909366"/>
            <a:ext cx="17323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Read</a:t>
            </a:r>
            <a:endParaRPr lang="en-US" sz="1300" dirty="0"/>
          </a:p>
        </p:txBody>
      </p:sp>
      <p:sp>
        <p:nvSpPr>
          <p:cNvPr id="22" name="Text 17"/>
          <p:cNvSpPr/>
          <p:nvPr/>
        </p:nvSpPr>
        <p:spPr>
          <a:xfrm>
            <a:off x="7444730" y="2178596"/>
            <a:ext cx="173231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Result, range, benchmark, limits</a:t>
            </a:r>
            <a:endParaRPr lang="en-US" sz="1200" dirty="0"/>
          </a:p>
        </p:txBody>
      </p:sp>
      <p:pic>
        <p:nvPicPr>
          <p:cNvPr id="23" name="Image 3" descr="connector">    </p:cNvPr>
          <p:cNvPicPr>
            <a:picLocks noChangeAspect="1"/>
          </p:cNvPicPr>
          <p:nvPr/>
        </p:nvPicPr>
        <p:blipFill>
          <a:blip r:embed="rId4"/>
          <a:srcRect l="0" r="0" t="0" b="0"/>
          <a:stretch/>
        </p:blipFill>
        <p:spPr>
          <a:xfrm>
            <a:off x="9278640" y="2070646"/>
            <a:ext cx="190500" cy="76200"/>
          </a:xfrm>
          <a:prstGeom prst="rect">
            <a:avLst/>
          </a:prstGeom>
        </p:spPr>
      </p:pic>
      <p:sp>
        <p:nvSpPr>
          <p:cNvPr id="24" name="Shape 18"/>
          <p:cNvSpPr/>
          <p:nvPr/>
        </p:nvSpPr>
        <p:spPr>
          <a:xfrm>
            <a:off x="9519940" y="1664295"/>
            <a:ext cx="1859260" cy="888950"/>
          </a:xfrm>
          <a:prstGeom prst="roundRect">
            <a:avLst>
              <a:gd name="adj" fmla="val 5715"/>
            </a:avLst>
          </a:prstGeom>
          <a:solidFill>
            <a:srgbClr val="0B6B45"/>
          </a:solidFill>
          <a:ln/>
        </p:spPr>
      </p:sp>
      <p:sp>
        <p:nvSpPr>
          <p:cNvPr id="25" name="Text 19"/>
          <p:cNvSpPr/>
          <p:nvPr/>
        </p:nvSpPr>
        <p:spPr>
          <a:xfrm>
            <a:off x="9608840" y="1753195"/>
            <a:ext cx="1732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E0CE"/>
                </a:solidFill>
                <a:latin typeface="JetBrains Mono" pitchFamily="49" charset="0"/>
                <a:ea typeface="JetBrains Mono" pitchFamily="49" charset="-122"/>
                <a:cs typeface="JetBrains Mono" pitchFamily="49" charset="-120"/>
              </a:rPr>
              <a:t>5</a:t>
            </a:r>
            <a:endParaRPr lang="en-US" sz="1200" dirty="0"/>
          </a:p>
        </p:txBody>
      </p:sp>
      <p:sp>
        <p:nvSpPr>
          <p:cNvPr id="26" name="Text 20"/>
          <p:cNvSpPr/>
          <p:nvPr/>
        </p:nvSpPr>
        <p:spPr>
          <a:xfrm>
            <a:off x="9608840" y="2004616"/>
            <a:ext cx="173226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Public Sans" pitchFamily="34" charset="0"/>
                <a:ea typeface="Public Sans" pitchFamily="34" charset="-122"/>
                <a:cs typeface="Public Sans" pitchFamily="34" charset="-120"/>
              </a:rPr>
              <a:t>Act</a:t>
            </a:r>
            <a:endParaRPr lang="en-US" sz="1300" dirty="0"/>
          </a:p>
        </p:txBody>
      </p:sp>
      <p:sp>
        <p:nvSpPr>
          <p:cNvPr id="27" name="Text 21"/>
          <p:cNvSpPr/>
          <p:nvPr/>
        </p:nvSpPr>
        <p:spPr>
          <a:xfrm>
            <a:off x="9608840" y="2273846"/>
            <a:ext cx="173226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DDF3E8"/>
                </a:solidFill>
                <a:latin typeface="Public Sans" pitchFamily="34" charset="0"/>
                <a:ea typeface="Public Sans" pitchFamily="34" charset="-122"/>
                <a:cs typeface="Public Sans" pitchFamily="34" charset="-120"/>
              </a:rPr>
              <a:t>Ask, export or hand off</a:t>
            </a:r>
            <a:endParaRPr lang="en-US" sz="1200" dirty="0"/>
          </a:p>
        </p:txBody>
      </p:sp>
      <p:sp>
        <p:nvSpPr>
          <p:cNvPr id="28" name="Text 22"/>
          <p:cNvSpPr/>
          <p:nvPr/>
        </p:nvSpPr>
        <p:spPr>
          <a:xfrm>
            <a:off x="812800" y="281359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675A"/>
                </a:solidFill>
                <a:latin typeface="JetBrains Mono" pitchFamily="49" charset="0"/>
                <a:ea typeface="JetBrains Mono" pitchFamily="49" charset="-122"/>
                <a:cs typeface="JetBrains Mono" pitchFamily="49" charset="-120"/>
              </a:rPr>
              <a:t>FROM ANY RESULT</a:t>
            </a:r>
            <a:endParaRPr lang="en-US" sz="1200" dirty="0"/>
          </a:p>
        </p:txBody>
      </p:sp>
      <p:sp>
        <p:nvSpPr>
          <p:cNvPr id="29" name="Shape 23"/>
          <p:cNvSpPr/>
          <p:nvPr/>
        </p:nvSpPr>
        <p:spPr>
          <a:xfrm>
            <a:off x="812800" y="3179316"/>
            <a:ext cx="3454400" cy="764530"/>
          </a:xfrm>
          <a:prstGeom prst="roundRect">
            <a:avLst>
              <a:gd name="adj" fmla="val 3322"/>
            </a:avLst>
          </a:prstGeom>
          <a:solidFill>
            <a:srgbClr val="F2F7F3"/>
          </a:solidFill>
          <a:ln/>
        </p:spPr>
      </p:sp>
      <p:sp>
        <p:nvSpPr>
          <p:cNvPr id="30" name="Shape 24"/>
          <p:cNvSpPr/>
          <p:nvPr/>
        </p:nvSpPr>
        <p:spPr>
          <a:xfrm>
            <a:off x="812800" y="3179316"/>
            <a:ext cx="3454400" cy="764530"/>
          </a:xfrm>
          <a:custGeom>
            <a:avLst/>
            <a:gdLst/>
            <a:ahLst/>
            <a:cxnLst/>
            <a:rect l="l" t="t" r="r" b="b"/>
            <a:pathLst>
              <a:path w="3454400" h="764530">
                <a:moveTo>
                  <a:pt x="50800" y="764530"/>
                </a:moveTo>
                <a:lnTo>
                  <a:pt x="25400" y="764530"/>
                </a:lnTo>
                <a:arcTo hR="25400" wR="25400" stAng="5400000" swAng="5400000"/>
                <a:lnTo>
                  <a:pt x="0" y="25400"/>
                </a:lnTo>
                <a:arcTo hR="25400" wR="25400" stAng="10800000" swAng="5400000"/>
                <a:lnTo>
                  <a:pt x="50800" y="0"/>
                </a:lnTo>
                <a:lnTo>
                  <a:pt x="50800" y="764530"/>
                </a:lnTo>
                <a:close/>
              </a:path>
            </a:pathLst>
          </a:custGeom>
          <a:solidFill>
            <a:srgbClr val="5A38B4"/>
          </a:solidFill>
          <a:ln/>
        </p:spPr>
      </p:sp>
      <p:sp>
        <p:nvSpPr>
          <p:cNvPr id="31" name="Text 25"/>
          <p:cNvSpPr/>
          <p:nvPr/>
        </p:nvSpPr>
        <p:spPr>
          <a:xfrm>
            <a:off x="977900" y="3255516"/>
            <a:ext cx="32702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Ask the analyst</a:t>
            </a:r>
            <a:endParaRPr lang="en-US" sz="1300" dirty="0"/>
          </a:p>
        </p:txBody>
      </p:sp>
      <p:sp>
        <p:nvSpPr>
          <p:cNvPr id="32" name="Text 26"/>
          <p:cNvSpPr/>
          <p:nvPr/>
        </p:nvSpPr>
        <p:spPr>
          <a:xfrm>
            <a:off x="977900" y="3486646"/>
            <a:ext cx="32702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Plain-words reading; stale if inputs change.</a:t>
            </a:r>
            <a:endParaRPr lang="en-US" sz="1200" dirty="0"/>
          </a:p>
        </p:txBody>
      </p:sp>
      <p:sp>
        <p:nvSpPr>
          <p:cNvPr id="33" name="Shape 27"/>
          <p:cNvSpPr/>
          <p:nvPr/>
        </p:nvSpPr>
        <p:spPr>
          <a:xfrm>
            <a:off x="4368800" y="3179316"/>
            <a:ext cx="3454400" cy="764530"/>
          </a:xfrm>
          <a:prstGeom prst="roundRect">
            <a:avLst>
              <a:gd name="adj" fmla="val 3322"/>
            </a:avLst>
          </a:prstGeom>
          <a:solidFill>
            <a:srgbClr val="F2F7F3"/>
          </a:solidFill>
          <a:ln/>
        </p:spPr>
      </p:sp>
      <p:sp>
        <p:nvSpPr>
          <p:cNvPr id="34" name="Shape 28"/>
          <p:cNvSpPr/>
          <p:nvPr/>
        </p:nvSpPr>
        <p:spPr>
          <a:xfrm>
            <a:off x="4368800" y="3179316"/>
            <a:ext cx="3454400" cy="764530"/>
          </a:xfrm>
          <a:custGeom>
            <a:avLst/>
            <a:gdLst/>
            <a:ahLst/>
            <a:cxnLst/>
            <a:rect l="l" t="t" r="r" b="b"/>
            <a:pathLst>
              <a:path w="3454400" h="764530">
                <a:moveTo>
                  <a:pt x="50800" y="764530"/>
                </a:moveTo>
                <a:lnTo>
                  <a:pt x="25400" y="764530"/>
                </a:lnTo>
                <a:arcTo hR="25400" wR="25400" stAng="5400000" swAng="5400000"/>
                <a:lnTo>
                  <a:pt x="0" y="25400"/>
                </a:lnTo>
                <a:arcTo hR="25400" wR="25400" stAng="10800000" swAng="5400000"/>
                <a:lnTo>
                  <a:pt x="50800" y="0"/>
                </a:lnTo>
                <a:lnTo>
                  <a:pt x="50800" y="764530"/>
                </a:lnTo>
                <a:close/>
              </a:path>
            </a:pathLst>
          </a:custGeom>
          <a:solidFill>
            <a:srgbClr val="C4480E"/>
          </a:solidFill>
          <a:ln/>
        </p:spPr>
      </p:sp>
      <p:sp>
        <p:nvSpPr>
          <p:cNvPr id="35" name="Text 29"/>
          <p:cNvSpPr/>
          <p:nvPr/>
        </p:nvSpPr>
        <p:spPr>
          <a:xfrm>
            <a:off x="4533900" y="3255516"/>
            <a:ext cx="32702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Export</a:t>
            </a:r>
            <a:endParaRPr lang="en-US" sz="1300" dirty="0"/>
          </a:p>
        </p:txBody>
      </p:sp>
      <p:sp>
        <p:nvSpPr>
          <p:cNvPr id="36" name="Text 30"/>
          <p:cNvSpPr/>
          <p:nvPr/>
        </p:nvSpPr>
        <p:spPr>
          <a:xfrm>
            <a:off x="4533900" y="3486646"/>
            <a:ext cx="327025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CSV, JSON with assumptions, print, GeoJSON.</a:t>
            </a:r>
            <a:endParaRPr lang="en-US" sz="1200" dirty="0"/>
          </a:p>
        </p:txBody>
      </p:sp>
      <p:sp>
        <p:nvSpPr>
          <p:cNvPr id="37" name="Shape 31"/>
          <p:cNvSpPr/>
          <p:nvPr/>
        </p:nvSpPr>
        <p:spPr>
          <a:xfrm>
            <a:off x="7924800" y="3179316"/>
            <a:ext cx="3454400" cy="764530"/>
          </a:xfrm>
          <a:prstGeom prst="roundRect">
            <a:avLst>
              <a:gd name="adj" fmla="val 3322"/>
            </a:avLst>
          </a:prstGeom>
          <a:solidFill>
            <a:srgbClr val="F2F7F3"/>
          </a:solidFill>
          <a:ln/>
        </p:spPr>
      </p:sp>
      <p:sp>
        <p:nvSpPr>
          <p:cNvPr id="38" name="Shape 32"/>
          <p:cNvSpPr/>
          <p:nvPr/>
        </p:nvSpPr>
        <p:spPr>
          <a:xfrm>
            <a:off x="7924800" y="3179316"/>
            <a:ext cx="3454400" cy="764530"/>
          </a:xfrm>
          <a:custGeom>
            <a:avLst/>
            <a:gdLst/>
            <a:ahLst/>
            <a:cxnLst/>
            <a:rect l="l" t="t" r="r" b="b"/>
            <a:pathLst>
              <a:path w="3454400" h="764530">
                <a:moveTo>
                  <a:pt x="50800" y="764530"/>
                </a:moveTo>
                <a:lnTo>
                  <a:pt x="25400" y="764530"/>
                </a:lnTo>
                <a:arcTo hR="25400" wR="25400" stAng="5400000" swAng="5400000"/>
                <a:lnTo>
                  <a:pt x="0" y="25400"/>
                </a:lnTo>
                <a:arcTo hR="25400" wR="25400" stAng="10800000" swAng="5400000"/>
                <a:lnTo>
                  <a:pt x="50800" y="0"/>
                </a:lnTo>
                <a:lnTo>
                  <a:pt x="50800" y="764530"/>
                </a:lnTo>
                <a:close/>
              </a:path>
            </a:pathLst>
          </a:custGeom>
          <a:solidFill>
            <a:srgbClr val="0E7A4F"/>
          </a:solidFill>
          <a:ln/>
        </p:spPr>
      </p:sp>
      <p:sp>
        <p:nvSpPr>
          <p:cNvPr id="39" name="Text 33"/>
          <p:cNvSpPr/>
          <p:nvPr/>
        </p:nvSpPr>
        <p:spPr>
          <a:xfrm>
            <a:off x="8089900" y="3255516"/>
            <a:ext cx="327025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C2E22"/>
                </a:solidFill>
                <a:latin typeface="Public Sans" pitchFamily="34" charset="0"/>
                <a:ea typeface="Public Sans" pitchFamily="34" charset="-122"/>
                <a:cs typeface="Public Sans" pitchFamily="34" charset="-120"/>
              </a:rPr>
              <a:t>Review</a:t>
            </a:r>
            <a:endParaRPr lang="en-US" sz="1300" dirty="0"/>
          </a:p>
        </p:txBody>
      </p:sp>
      <p:sp>
        <p:nvSpPr>
          <p:cNvPr id="40" name="Text 34"/>
          <p:cNvSpPr/>
          <p:nvPr/>
        </p:nvSpPr>
        <p:spPr>
          <a:xfrm>
            <a:off x="8089900" y="3486646"/>
            <a:ext cx="32702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7503F"/>
                </a:solidFill>
                <a:latin typeface="Public Sans" pitchFamily="34" charset="0"/>
                <a:ea typeface="Public Sans" pitchFamily="34" charset="-122"/>
                <a:cs typeface="Public Sans" pitchFamily="34" charset="-120"/>
              </a:rPr>
              <a:t>Mark each satellite region and add a note.</a:t>
            </a:r>
            <a:endParaRPr lang="en-US" sz="1200" dirty="0"/>
          </a:p>
        </p:txBody>
      </p:sp>
      <p:sp>
        <p:nvSpPr>
          <p:cNvPr id="41" name="Text 35"/>
          <p:cNvSpPr/>
          <p:nvPr/>
        </p:nvSpPr>
        <p:spPr>
          <a:xfrm>
            <a:off x="812800" y="4096246"/>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675A"/>
                </a:solidFill>
                <a:latin typeface="JetBrains Mono" pitchFamily="49" charset="0"/>
                <a:ea typeface="JetBrains Mono" pitchFamily="49" charset="-122"/>
                <a:cs typeface="JetBrains Mono" pitchFamily="49" charset="-120"/>
              </a:rPr>
              <a:t>HANDOFFS BETWEEN SHEETS</a:t>
            </a:r>
            <a:endParaRPr lang="en-US" sz="1200" dirty="0"/>
          </a:p>
        </p:txBody>
      </p:sp>
      <p:sp>
        <p:nvSpPr>
          <p:cNvPr id="42" name="Text 36"/>
          <p:cNvSpPr/>
          <p:nvPr/>
        </p:nvSpPr>
        <p:spPr>
          <a:xfrm>
            <a:off x="812800" y="4461966"/>
            <a:ext cx="1091952" cy="314920"/>
          </a:xfrm>
          <a:prstGeom prst="roundRect">
            <a:avLst>
              <a:gd name="adj" fmla="val 12098"/>
            </a:avLst>
          </a:prstGeom>
          <a:solidFill>
            <a:srgbClr val="D6ECE0"/>
          </a:solidFill>
          <a:ln/>
        </p:spPr>
        <p:txBody>
          <a:bodyPr wrap="none" lIns="0" tIns="0" rIns="0" bIns="0" rtlCol="0" anchor="ctr">
            <a:normAutofit/>
          </a:bodyPr>
          <a:lstStyle/>
          <a:p>
            <a:pPr algn="ctr"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ML estimate</a:t>
            </a:r>
            <a:endParaRPr lang="en-US" sz="1200" dirty="0"/>
          </a:p>
        </p:txBody>
      </p:sp>
      <p:pic>
        <p:nvPicPr>
          <p:cNvPr id="43" name="Image 4" descr="connector">    </p:cNvPr>
          <p:cNvPicPr>
            <a:picLocks noChangeAspect="1"/>
          </p:cNvPicPr>
          <p:nvPr/>
        </p:nvPicPr>
        <p:blipFill>
          <a:blip r:embed="rId5"/>
          <a:srcRect l="0" r="0" t="0" b="0"/>
          <a:stretch/>
        </p:blipFill>
        <p:spPr>
          <a:xfrm>
            <a:off x="1968252" y="4581327"/>
            <a:ext cx="254000" cy="76200"/>
          </a:xfrm>
          <a:prstGeom prst="rect">
            <a:avLst/>
          </a:prstGeom>
        </p:spPr>
      </p:pic>
      <p:sp>
        <p:nvSpPr>
          <p:cNvPr id="44" name="Text 37"/>
          <p:cNvSpPr/>
          <p:nvPr/>
        </p:nvSpPr>
        <p:spPr>
          <a:xfrm>
            <a:off x="2285752" y="4461966"/>
            <a:ext cx="1002060" cy="314920"/>
          </a:xfrm>
          <a:prstGeom prst="roundRect">
            <a:avLst>
              <a:gd name="adj" fmla="val 12098"/>
            </a:avLst>
          </a:prstGeom>
          <a:solidFill>
            <a:srgbClr val="D6ECE0"/>
          </a:solidFill>
          <a:ln/>
        </p:spPr>
        <p:txBody>
          <a:bodyPr wrap="none" lIns="0" tIns="0" rIns="0" bIns="0" rtlCol="0" anchor="ctr">
            <a:normAutofit/>
          </a:bodyPr>
          <a:lstStyle/>
          <a:p>
            <a:pPr algn="ctr"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Abatement</a:t>
            </a:r>
            <a:endParaRPr lang="en-US" sz="1200" dirty="0"/>
          </a:p>
        </p:txBody>
      </p:sp>
      <p:sp>
        <p:nvSpPr>
          <p:cNvPr id="45" name="Text 38"/>
          <p:cNvSpPr/>
          <p:nvPr/>
        </p:nvSpPr>
        <p:spPr>
          <a:xfrm>
            <a:off x="3351312" y="4461966"/>
            <a:ext cx="1333897" cy="314920"/>
          </a:xfrm>
          <a:prstGeom prst="roundRect">
            <a:avLst>
              <a:gd name="adj" fmla="val 12098"/>
            </a:avLst>
          </a:prstGeom>
          <a:solidFill>
            <a:srgbClr val="E6DFF6"/>
          </a:solidFill>
          <a:ln/>
        </p:spPr>
        <p:txBody>
          <a:bodyPr wrap="none" lIns="0" tIns="0" rIns="0" bIns="0" rtlCol="0" anchor="ctr">
            <a:normAutofit/>
          </a:bodyPr>
          <a:lstStyle/>
          <a:p>
            <a:pPr algn="ctr" indent="0" marL="0">
              <a:lnSpc>
                <a:spcPts val="1680"/>
              </a:lnSpc>
              <a:buNone/>
            </a:pPr>
            <a:r>
              <a:rPr lang="en-US" sz="1200" b="1" dirty="0">
                <a:solidFill>
                  <a:srgbClr val="3B2290"/>
                </a:solidFill>
                <a:latin typeface="Public Sans" pitchFamily="34" charset="0"/>
                <a:ea typeface="Public Sans" pitchFamily="34" charset="-122"/>
                <a:cs typeface="Public Sans" pitchFamily="34" charset="-120"/>
              </a:rPr>
              <a:t>Dispatch saving</a:t>
            </a:r>
            <a:endParaRPr lang="en-US" sz="1200" dirty="0"/>
          </a:p>
        </p:txBody>
      </p:sp>
      <p:pic>
        <p:nvPicPr>
          <p:cNvPr id="46" name="Image 5" descr="connector">    </p:cNvPr>
          <p:cNvPicPr>
            <a:picLocks noChangeAspect="1"/>
          </p:cNvPicPr>
          <p:nvPr/>
        </p:nvPicPr>
        <p:blipFill>
          <a:blip r:embed="rId6"/>
          <a:srcRect l="0" r="0" t="0" b="0"/>
          <a:stretch/>
        </p:blipFill>
        <p:spPr>
          <a:xfrm>
            <a:off x="4748709" y="4581327"/>
            <a:ext cx="254000" cy="76200"/>
          </a:xfrm>
          <a:prstGeom prst="rect">
            <a:avLst/>
          </a:prstGeom>
        </p:spPr>
      </p:pic>
      <p:sp>
        <p:nvSpPr>
          <p:cNvPr id="47" name="Text 39"/>
          <p:cNvSpPr/>
          <p:nvPr/>
        </p:nvSpPr>
        <p:spPr>
          <a:xfrm>
            <a:off x="5066209" y="4461966"/>
            <a:ext cx="1598712" cy="314920"/>
          </a:xfrm>
          <a:prstGeom prst="roundRect">
            <a:avLst>
              <a:gd name="adj" fmla="val 12098"/>
            </a:avLst>
          </a:prstGeom>
          <a:solidFill>
            <a:srgbClr val="D6ECE0"/>
          </a:solidFill>
          <a:ln/>
        </p:spPr>
        <p:txBody>
          <a:bodyPr wrap="none" lIns="0" tIns="0" rIns="0" bIns="0" rtlCol="0" anchor="ctr">
            <a:normAutofit/>
          </a:bodyPr>
          <a:lstStyle/>
          <a:p>
            <a:pPr algn="ctr" indent="0" marL="0">
              <a:lnSpc>
                <a:spcPts val="1680"/>
              </a:lnSpc>
              <a:buNone/>
            </a:pPr>
            <a:r>
              <a:rPr lang="en-US" sz="1200" b="1" dirty="0">
                <a:solidFill>
                  <a:srgbClr val="0C4A35"/>
                </a:solidFill>
                <a:latin typeface="Public Sans" pitchFamily="34" charset="0"/>
                <a:ea typeface="Public Sans" pitchFamily="34" charset="-122"/>
                <a:cs typeface="Public Sans" pitchFamily="34" charset="-120"/>
              </a:rPr>
              <a:t>Abatement, runway</a:t>
            </a:r>
            <a:endParaRPr lang="en-US" sz="1200" dirty="0"/>
          </a:p>
        </p:txBody>
      </p:sp>
      <p:sp>
        <p:nvSpPr>
          <p:cNvPr id="48" name="Text 4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A handoff is disabled while a result is pending and carries the exact inputs it came from</a:t>
            </a:r>
            <a:endParaRPr lang="en-US" sz="1200" dirty="0"/>
          </a:p>
        </p:txBody>
      </p:sp>
      <p:sp>
        <p:nvSpPr>
          <p:cNvPr id="49" name="Text 41"/>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812800" y="7620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B6B45"/>
                </a:solidFill>
                <a:latin typeface="JetBrains Mono" pitchFamily="49" charset="0"/>
                <a:ea typeface="JetBrains Mono" pitchFamily="49" charset="-122"/>
                <a:cs typeface="JetBrains Mono" pitchFamily="49" charset="-120"/>
              </a:rPr>
              <a:t>WIREFRAME</a:t>
            </a:r>
            <a:endParaRPr lang="en-US" sz="1300" dirty="0"/>
          </a:p>
        </p:txBody>
      </p:sp>
      <p:sp>
        <p:nvSpPr>
          <p:cNvPr id="3" name="Text 1"/>
          <p:cNvSpPr/>
          <p:nvPr>
            <p:ph type="title"/>
          </p:nvPr>
        </p:nvSpPr>
        <p:spPr>
          <a:xfrm>
            <a:off x="812800" y="1043930"/>
            <a:ext cx="10883392" cy="385415"/>
          </a:xfrm>
          <a:prstGeom prst="rect">
            <a:avLst/>
          </a:prstGeom>
          <a:noFill/>
          <a:ln/>
        </p:spPr>
        <p:txBody>
          <a:bodyPr wrap="square" lIns="0" tIns="0" rIns="0" bIns="0" rtlCol="0" anchor="t">
            <a:normAutofit/>
          </a:bodyPr>
          <a:lstStyle/>
          <a:p>
            <a:pPr algn="l" indent="0" marL="0">
              <a:lnSpc>
                <a:spcPts val="2835"/>
              </a:lnSpc>
              <a:buNone/>
            </a:pPr>
            <a:r>
              <a:rPr lang="en-US" sz="2700" b="1" i="0" spc="-100" kern="0" dirty="0">
                <a:solidFill>
                  <a:srgbClr val="0C2E22"/>
                </a:solidFill>
                <a:latin typeface="Archivo" pitchFamily="34" charset="0"/>
                <a:ea typeface="Archivo" pitchFamily="34" charset="-122"/>
                <a:cs typeface="Archivo" pitchFamily="34" charset="-120"/>
              </a:rPr>
              <a:t>Every sheet is built from the same frame.</a:t>
            </a:r>
            <a:endParaRPr lang="en-US" sz="2700" dirty="0"/>
          </a:p>
        </p:txBody>
      </p:sp>
      <p:sp>
        <p:nvSpPr>
          <p:cNvPr id="4" name="Shape 2"/>
          <p:cNvSpPr/>
          <p:nvPr/>
        </p:nvSpPr>
        <p:spPr>
          <a:xfrm>
            <a:off x="819150" y="1549995"/>
            <a:ext cx="6464300" cy="3378200"/>
          </a:xfrm>
          <a:prstGeom prst="roundRect">
            <a:avLst>
              <a:gd name="adj" fmla="val 940"/>
            </a:avLst>
          </a:prstGeom>
          <a:solidFill>
            <a:srgbClr val="FFFFFF"/>
          </a:solidFill>
          <a:ln w="12700">
            <a:solidFill>
              <a:srgbClr val="0C2E22"/>
            </a:solidFill>
            <a:prstDash val="solid"/>
          </a:ln>
        </p:spPr>
      </p:sp>
      <p:sp>
        <p:nvSpPr>
          <p:cNvPr id="5" name="Shape 3"/>
          <p:cNvSpPr/>
          <p:nvPr/>
        </p:nvSpPr>
        <p:spPr>
          <a:xfrm>
            <a:off x="825500" y="1556345"/>
            <a:ext cx="6451600" cy="317500"/>
          </a:xfrm>
          <a:custGeom>
            <a:avLst/>
            <a:gdLst/>
            <a:ahLst/>
            <a:cxnLst/>
            <a:rect l="l" t="t" r="r" b="b"/>
            <a:pathLst>
              <a:path w="6451600" h="317500">
                <a:moveTo>
                  <a:pt x="0" y="25400"/>
                </a:moveTo>
                <a:arcTo hR="25400" wR="25400" stAng="10800000" swAng="5400000"/>
                <a:lnTo>
                  <a:pt x="6426200" y="0"/>
                </a:lnTo>
                <a:arcTo hR="25400" wR="25400" stAng="16200000" swAng="5400000"/>
                <a:lnTo>
                  <a:pt x="6451600" y="317500"/>
                </a:lnTo>
                <a:lnTo>
                  <a:pt x="0" y="317500"/>
                </a:lnTo>
                <a:close/>
              </a:path>
            </a:pathLst>
          </a:custGeom>
          <a:solidFill>
            <a:srgbClr val="0C3D2C"/>
          </a:solidFill>
          <a:ln/>
        </p:spPr>
      </p:sp>
      <p:sp>
        <p:nvSpPr>
          <p:cNvPr id="6" name="Shape 4"/>
          <p:cNvSpPr/>
          <p:nvPr/>
        </p:nvSpPr>
        <p:spPr>
          <a:xfrm>
            <a:off x="965200" y="1645245"/>
            <a:ext cx="762000" cy="139700"/>
          </a:xfrm>
          <a:prstGeom prst="roundRect">
            <a:avLst>
              <a:gd name="adj" fmla="val 13636"/>
            </a:avLst>
          </a:prstGeom>
          <a:solidFill>
            <a:srgbClr val="FFFFFF"/>
          </a:solidFill>
          <a:ln/>
        </p:spPr>
      </p:sp>
      <p:sp>
        <p:nvSpPr>
          <p:cNvPr id="7" name="Shape 5"/>
          <p:cNvSpPr/>
          <p:nvPr/>
        </p:nvSpPr>
        <p:spPr>
          <a:xfrm>
            <a:off x="1841500" y="1670645"/>
            <a:ext cx="444500" cy="88900"/>
          </a:xfrm>
          <a:prstGeom prst="roundRect">
            <a:avLst>
              <a:gd name="adj" fmla="val 21429"/>
            </a:avLst>
          </a:prstGeom>
          <a:solidFill>
            <a:srgbClr val="6FA58A"/>
          </a:solidFill>
          <a:ln/>
        </p:spPr>
      </p:sp>
      <p:sp>
        <p:nvSpPr>
          <p:cNvPr id="8" name="Shape 6"/>
          <p:cNvSpPr/>
          <p:nvPr/>
        </p:nvSpPr>
        <p:spPr>
          <a:xfrm>
            <a:off x="2400300" y="1670645"/>
            <a:ext cx="444500" cy="88900"/>
          </a:xfrm>
          <a:prstGeom prst="roundRect">
            <a:avLst>
              <a:gd name="adj" fmla="val 21429"/>
            </a:avLst>
          </a:prstGeom>
          <a:solidFill>
            <a:srgbClr val="6FA58A"/>
          </a:solidFill>
          <a:ln/>
        </p:spPr>
      </p:sp>
      <p:sp>
        <p:nvSpPr>
          <p:cNvPr id="9" name="Shape 7"/>
          <p:cNvSpPr/>
          <p:nvPr/>
        </p:nvSpPr>
        <p:spPr>
          <a:xfrm>
            <a:off x="2959100" y="1670645"/>
            <a:ext cx="444500" cy="88900"/>
          </a:xfrm>
          <a:prstGeom prst="roundRect">
            <a:avLst>
              <a:gd name="adj" fmla="val 21429"/>
            </a:avLst>
          </a:prstGeom>
          <a:solidFill>
            <a:srgbClr val="6FA58A"/>
          </a:solidFill>
          <a:ln/>
        </p:spPr>
      </p:sp>
      <p:sp>
        <p:nvSpPr>
          <p:cNvPr id="10" name="Shape 8"/>
          <p:cNvSpPr/>
          <p:nvPr/>
        </p:nvSpPr>
        <p:spPr>
          <a:xfrm>
            <a:off x="6826250" y="1651595"/>
            <a:ext cx="304800" cy="127000"/>
          </a:xfrm>
          <a:prstGeom prst="roundRect">
            <a:avLst>
              <a:gd name="adj" fmla="val 10000"/>
            </a:avLst>
          </a:prstGeom>
          <a:noFill/>
          <a:ln w="12700">
            <a:solidFill>
              <a:srgbClr val="A9CDB9"/>
            </a:solidFill>
            <a:prstDash val="solid"/>
          </a:ln>
        </p:spPr>
      </p:sp>
      <p:sp>
        <p:nvSpPr>
          <p:cNvPr id="11" name="Shape 9"/>
          <p:cNvSpPr/>
          <p:nvPr/>
        </p:nvSpPr>
        <p:spPr>
          <a:xfrm>
            <a:off x="825500" y="2083395"/>
            <a:ext cx="6451600" cy="0"/>
          </a:xfrm>
          <a:prstGeom prst="line">
            <a:avLst/>
          </a:prstGeom>
          <a:noFill/>
          <a:ln w="12700">
            <a:solidFill>
              <a:srgbClr val="0B6B45"/>
            </a:solidFill>
            <a:prstDash val="solid"/>
          </a:ln>
        </p:spPr>
      </p:sp>
      <p:sp>
        <p:nvSpPr>
          <p:cNvPr id="12" name="Shape 10"/>
          <p:cNvSpPr/>
          <p:nvPr/>
        </p:nvSpPr>
        <p:spPr>
          <a:xfrm>
            <a:off x="965200" y="1937345"/>
            <a:ext cx="698500" cy="76200"/>
          </a:xfrm>
          <a:prstGeom prst="roundRect">
            <a:avLst>
              <a:gd name="adj" fmla="val 25000"/>
            </a:avLst>
          </a:prstGeom>
          <a:solidFill>
            <a:srgbClr val="0B6B45"/>
          </a:solidFill>
          <a:ln/>
        </p:spPr>
      </p:sp>
      <p:sp>
        <p:nvSpPr>
          <p:cNvPr id="13" name="Shape 11"/>
          <p:cNvSpPr/>
          <p:nvPr/>
        </p:nvSpPr>
        <p:spPr>
          <a:xfrm>
            <a:off x="1803400" y="1937345"/>
            <a:ext cx="571500" cy="76200"/>
          </a:xfrm>
          <a:prstGeom prst="roundRect">
            <a:avLst>
              <a:gd name="adj" fmla="val 25000"/>
            </a:avLst>
          </a:prstGeom>
          <a:solidFill>
            <a:srgbClr val="C9DCCF"/>
          </a:solidFill>
          <a:ln/>
        </p:spPr>
      </p:sp>
      <p:sp>
        <p:nvSpPr>
          <p:cNvPr id="14" name="Shape 12"/>
          <p:cNvSpPr/>
          <p:nvPr/>
        </p:nvSpPr>
        <p:spPr>
          <a:xfrm>
            <a:off x="2514600" y="1937345"/>
            <a:ext cx="571500" cy="76200"/>
          </a:xfrm>
          <a:prstGeom prst="roundRect">
            <a:avLst>
              <a:gd name="adj" fmla="val 25000"/>
            </a:avLst>
          </a:prstGeom>
          <a:solidFill>
            <a:srgbClr val="C9DCCF"/>
          </a:solidFill>
          <a:ln/>
        </p:spPr>
      </p:sp>
      <p:sp>
        <p:nvSpPr>
          <p:cNvPr id="15" name="Shape 13"/>
          <p:cNvSpPr/>
          <p:nvPr/>
        </p:nvSpPr>
        <p:spPr>
          <a:xfrm>
            <a:off x="965200" y="2216745"/>
            <a:ext cx="571500" cy="63500"/>
          </a:xfrm>
          <a:prstGeom prst="roundRect">
            <a:avLst>
              <a:gd name="adj" fmla="val 30000"/>
            </a:avLst>
          </a:prstGeom>
          <a:solidFill>
            <a:srgbClr val="C9DCCF"/>
          </a:solidFill>
          <a:ln/>
        </p:spPr>
      </p:sp>
      <p:sp>
        <p:nvSpPr>
          <p:cNvPr id="16" name="Shape 14"/>
          <p:cNvSpPr/>
          <p:nvPr/>
        </p:nvSpPr>
        <p:spPr>
          <a:xfrm>
            <a:off x="965200" y="2343745"/>
            <a:ext cx="4064000" cy="215900"/>
          </a:xfrm>
          <a:prstGeom prst="roundRect">
            <a:avLst>
              <a:gd name="adj" fmla="val 8824"/>
            </a:avLst>
          </a:prstGeom>
          <a:solidFill>
            <a:srgbClr val="0C2E22"/>
          </a:solidFill>
          <a:ln/>
        </p:spPr>
      </p:sp>
      <p:sp>
        <p:nvSpPr>
          <p:cNvPr id="17" name="Shape 15"/>
          <p:cNvSpPr/>
          <p:nvPr/>
        </p:nvSpPr>
        <p:spPr>
          <a:xfrm>
            <a:off x="965200" y="2623145"/>
            <a:ext cx="3302000" cy="76200"/>
          </a:xfrm>
          <a:prstGeom prst="roundRect">
            <a:avLst>
              <a:gd name="adj" fmla="val 25000"/>
            </a:avLst>
          </a:prstGeom>
          <a:solidFill>
            <a:srgbClr val="C9DCCF"/>
          </a:solidFill>
          <a:ln/>
        </p:spPr>
      </p:sp>
      <p:sp>
        <p:nvSpPr>
          <p:cNvPr id="18" name="Shape 16"/>
          <p:cNvSpPr/>
          <p:nvPr/>
        </p:nvSpPr>
        <p:spPr>
          <a:xfrm>
            <a:off x="965200" y="2775545"/>
            <a:ext cx="571500" cy="190500"/>
          </a:xfrm>
          <a:prstGeom prst="roundRect">
            <a:avLst>
              <a:gd name="adj" fmla="val 10000"/>
            </a:avLst>
          </a:prstGeom>
          <a:solidFill>
            <a:srgbClr val="0B6B45"/>
          </a:solidFill>
          <a:ln/>
        </p:spPr>
      </p:sp>
      <p:sp>
        <p:nvSpPr>
          <p:cNvPr id="19" name="Shape 17"/>
          <p:cNvSpPr/>
          <p:nvPr/>
        </p:nvSpPr>
        <p:spPr>
          <a:xfrm>
            <a:off x="1606550" y="2781895"/>
            <a:ext cx="558800" cy="177800"/>
          </a:xfrm>
          <a:prstGeom prst="roundRect">
            <a:avLst>
              <a:gd name="adj" fmla="val 7143"/>
            </a:avLst>
          </a:prstGeom>
          <a:noFill/>
          <a:ln w="12700">
            <a:solidFill>
              <a:srgbClr val="0C2E22"/>
            </a:solidFill>
            <a:prstDash val="solid"/>
          </a:ln>
        </p:spPr>
      </p:sp>
      <p:sp>
        <p:nvSpPr>
          <p:cNvPr id="20" name="Shape 18"/>
          <p:cNvSpPr/>
          <p:nvPr/>
        </p:nvSpPr>
        <p:spPr>
          <a:xfrm>
            <a:off x="2241550" y="2781895"/>
            <a:ext cx="558800" cy="177800"/>
          </a:xfrm>
          <a:prstGeom prst="roundRect">
            <a:avLst>
              <a:gd name="adj" fmla="val 7143"/>
            </a:avLst>
          </a:prstGeom>
          <a:noFill/>
          <a:ln w="12700">
            <a:solidFill>
              <a:srgbClr val="0C2E22"/>
            </a:solidFill>
            <a:prstDash val="solid"/>
          </a:ln>
        </p:spPr>
      </p:sp>
      <p:sp>
        <p:nvSpPr>
          <p:cNvPr id="21" name="Shape 19"/>
          <p:cNvSpPr/>
          <p:nvPr/>
        </p:nvSpPr>
        <p:spPr>
          <a:xfrm>
            <a:off x="2876550" y="2781895"/>
            <a:ext cx="558800" cy="177800"/>
          </a:xfrm>
          <a:prstGeom prst="roundRect">
            <a:avLst>
              <a:gd name="adj" fmla="val 7143"/>
            </a:avLst>
          </a:prstGeom>
          <a:noFill/>
          <a:ln w="12700">
            <a:solidFill>
              <a:srgbClr val="0C2E22"/>
            </a:solidFill>
            <a:prstDash val="solid"/>
          </a:ln>
        </p:spPr>
      </p:sp>
      <p:sp>
        <p:nvSpPr>
          <p:cNvPr id="22" name="Shape 20"/>
          <p:cNvSpPr/>
          <p:nvPr/>
        </p:nvSpPr>
        <p:spPr>
          <a:xfrm>
            <a:off x="965200" y="3042245"/>
            <a:ext cx="1485900" cy="406400"/>
          </a:xfrm>
          <a:prstGeom prst="roundRect">
            <a:avLst>
              <a:gd name="adj" fmla="val 4688"/>
            </a:avLst>
          </a:prstGeom>
          <a:solidFill>
            <a:srgbClr val="F2F7F3"/>
          </a:solidFill>
          <a:ln/>
        </p:spPr>
      </p:sp>
      <p:sp>
        <p:nvSpPr>
          <p:cNvPr id="23" name="Shape 21"/>
          <p:cNvSpPr/>
          <p:nvPr/>
        </p:nvSpPr>
        <p:spPr>
          <a:xfrm>
            <a:off x="965200" y="3042245"/>
            <a:ext cx="1485900" cy="406400"/>
          </a:xfrm>
          <a:custGeom>
            <a:avLst/>
            <a:gdLst/>
            <a:ahLst/>
            <a:cxnLst/>
            <a:rect l="l" t="t" r="r" b="b"/>
            <a:pathLst>
              <a:path w="1485900" h="406400">
                <a:moveTo>
                  <a:pt x="0" y="25400"/>
                </a:moveTo>
                <a:lnTo>
                  <a:pt x="0" y="19050"/>
                </a:lnTo>
                <a:arcTo hR="19050" wR="19050" stAng="10800000" swAng="5400000"/>
                <a:lnTo>
                  <a:pt x="1466850" y="0"/>
                </a:lnTo>
                <a:arcTo hR="19050" wR="19050" stAng="16200000" swAng="5400000"/>
                <a:lnTo>
                  <a:pt x="1485900" y="25400"/>
                </a:lnTo>
                <a:lnTo>
                  <a:pt x="0" y="25400"/>
                </a:lnTo>
                <a:close/>
              </a:path>
            </a:pathLst>
          </a:custGeom>
          <a:solidFill>
            <a:srgbClr val="0B6B45"/>
          </a:solidFill>
          <a:ln/>
        </p:spPr>
      </p:sp>
      <p:sp>
        <p:nvSpPr>
          <p:cNvPr id="24" name="Shape 22"/>
          <p:cNvSpPr/>
          <p:nvPr/>
        </p:nvSpPr>
        <p:spPr>
          <a:xfrm>
            <a:off x="1028700" y="3118445"/>
            <a:ext cx="381000" cy="50800"/>
          </a:xfrm>
          <a:prstGeom prst="roundRect">
            <a:avLst>
              <a:gd name="adj" fmla="val 37500"/>
            </a:avLst>
          </a:prstGeom>
          <a:solidFill>
            <a:srgbClr val="C9DCCF"/>
          </a:solidFill>
          <a:ln/>
        </p:spPr>
      </p:sp>
      <p:sp>
        <p:nvSpPr>
          <p:cNvPr id="25" name="Shape 23"/>
          <p:cNvSpPr/>
          <p:nvPr/>
        </p:nvSpPr>
        <p:spPr>
          <a:xfrm>
            <a:off x="1028700" y="3169245"/>
            <a:ext cx="571500" cy="139700"/>
          </a:xfrm>
          <a:prstGeom prst="roundRect">
            <a:avLst>
              <a:gd name="adj" fmla="val 13636"/>
            </a:avLst>
          </a:prstGeom>
          <a:solidFill>
            <a:srgbClr val="0C2E22"/>
          </a:solidFill>
          <a:ln/>
        </p:spPr>
      </p:sp>
      <p:sp>
        <p:nvSpPr>
          <p:cNvPr id="26" name="Shape 24"/>
          <p:cNvSpPr/>
          <p:nvPr/>
        </p:nvSpPr>
        <p:spPr>
          <a:xfrm>
            <a:off x="2527300" y="3042245"/>
            <a:ext cx="1485900" cy="406400"/>
          </a:xfrm>
          <a:prstGeom prst="roundRect">
            <a:avLst>
              <a:gd name="adj" fmla="val 4688"/>
            </a:avLst>
          </a:prstGeom>
          <a:solidFill>
            <a:srgbClr val="F2F7F3"/>
          </a:solidFill>
          <a:ln/>
        </p:spPr>
      </p:sp>
      <p:sp>
        <p:nvSpPr>
          <p:cNvPr id="27" name="Shape 25"/>
          <p:cNvSpPr/>
          <p:nvPr/>
        </p:nvSpPr>
        <p:spPr>
          <a:xfrm>
            <a:off x="2527300" y="3042245"/>
            <a:ext cx="1485900" cy="406400"/>
          </a:xfrm>
          <a:custGeom>
            <a:avLst/>
            <a:gdLst/>
            <a:ahLst/>
            <a:cxnLst/>
            <a:rect l="l" t="t" r="r" b="b"/>
            <a:pathLst>
              <a:path w="1485900" h="406400">
                <a:moveTo>
                  <a:pt x="0" y="25400"/>
                </a:moveTo>
                <a:lnTo>
                  <a:pt x="0" y="19050"/>
                </a:lnTo>
                <a:arcTo hR="19050" wR="19050" stAng="10800000" swAng="5400000"/>
                <a:lnTo>
                  <a:pt x="1466850" y="0"/>
                </a:lnTo>
                <a:arcTo hR="19050" wR="19050" stAng="16200000" swAng="5400000"/>
                <a:lnTo>
                  <a:pt x="1485900" y="25400"/>
                </a:lnTo>
                <a:lnTo>
                  <a:pt x="0" y="25400"/>
                </a:lnTo>
                <a:close/>
              </a:path>
            </a:pathLst>
          </a:custGeom>
          <a:solidFill>
            <a:srgbClr val="0B6B45"/>
          </a:solidFill>
          <a:ln/>
        </p:spPr>
      </p:sp>
      <p:sp>
        <p:nvSpPr>
          <p:cNvPr id="28" name="Shape 26"/>
          <p:cNvSpPr/>
          <p:nvPr/>
        </p:nvSpPr>
        <p:spPr>
          <a:xfrm>
            <a:off x="2590800" y="3118445"/>
            <a:ext cx="381000" cy="50800"/>
          </a:xfrm>
          <a:prstGeom prst="roundRect">
            <a:avLst>
              <a:gd name="adj" fmla="val 37500"/>
            </a:avLst>
          </a:prstGeom>
          <a:solidFill>
            <a:srgbClr val="C9DCCF"/>
          </a:solidFill>
          <a:ln/>
        </p:spPr>
      </p:sp>
      <p:sp>
        <p:nvSpPr>
          <p:cNvPr id="29" name="Shape 27"/>
          <p:cNvSpPr/>
          <p:nvPr/>
        </p:nvSpPr>
        <p:spPr>
          <a:xfrm>
            <a:off x="2590800" y="3169245"/>
            <a:ext cx="571500" cy="139700"/>
          </a:xfrm>
          <a:prstGeom prst="roundRect">
            <a:avLst>
              <a:gd name="adj" fmla="val 13636"/>
            </a:avLst>
          </a:prstGeom>
          <a:solidFill>
            <a:srgbClr val="0C2E22"/>
          </a:solidFill>
          <a:ln/>
        </p:spPr>
      </p:sp>
      <p:sp>
        <p:nvSpPr>
          <p:cNvPr id="30" name="Shape 28"/>
          <p:cNvSpPr/>
          <p:nvPr/>
        </p:nvSpPr>
        <p:spPr>
          <a:xfrm>
            <a:off x="4089400" y="3042245"/>
            <a:ext cx="1485900" cy="406400"/>
          </a:xfrm>
          <a:prstGeom prst="roundRect">
            <a:avLst>
              <a:gd name="adj" fmla="val 4688"/>
            </a:avLst>
          </a:prstGeom>
          <a:solidFill>
            <a:srgbClr val="F2F7F3"/>
          </a:solidFill>
          <a:ln/>
        </p:spPr>
      </p:sp>
      <p:sp>
        <p:nvSpPr>
          <p:cNvPr id="31" name="Shape 29"/>
          <p:cNvSpPr/>
          <p:nvPr/>
        </p:nvSpPr>
        <p:spPr>
          <a:xfrm>
            <a:off x="4089400" y="3042245"/>
            <a:ext cx="1485900" cy="406400"/>
          </a:xfrm>
          <a:custGeom>
            <a:avLst/>
            <a:gdLst/>
            <a:ahLst/>
            <a:cxnLst/>
            <a:rect l="l" t="t" r="r" b="b"/>
            <a:pathLst>
              <a:path w="1485900" h="406400">
                <a:moveTo>
                  <a:pt x="0" y="25400"/>
                </a:moveTo>
                <a:lnTo>
                  <a:pt x="0" y="19050"/>
                </a:lnTo>
                <a:arcTo hR="19050" wR="19050" stAng="10800000" swAng="5400000"/>
                <a:lnTo>
                  <a:pt x="1466850" y="0"/>
                </a:lnTo>
                <a:arcTo hR="19050" wR="19050" stAng="16200000" swAng="5400000"/>
                <a:lnTo>
                  <a:pt x="1485900" y="25400"/>
                </a:lnTo>
                <a:lnTo>
                  <a:pt x="0" y="25400"/>
                </a:lnTo>
                <a:close/>
              </a:path>
            </a:pathLst>
          </a:custGeom>
          <a:solidFill>
            <a:srgbClr val="0B6B45"/>
          </a:solidFill>
          <a:ln/>
        </p:spPr>
      </p:sp>
      <p:sp>
        <p:nvSpPr>
          <p:cNvPr id="32" name="Shape 30"/>
          <p:cNvSpPr/>
          <p:nvPr/>
        </p:nvSpPr>
        <p:spPr>
          <a:xfrm>
            <a:off x="4152900" y="3118445"/>
            <a:ext cx="381000" cy="50800"/>
          </a:xfrm>
          <a:prstGeom prst="roundRect">
            <a:avLst>
              <a:gd name="adj" fmla="val 37500"/>
            </a:avLst>
          </a:prstGeom>
          <a:solidFill>
            <a:srgbClr val="C9DCCF"/>
          </a:solidFill>
          <a:ln/>
        </p:spPr>
      </p:sp>
      <p:sp>
        <p:nvSpPr>
          <p:cNvPr id="33" name="Shape 31"/>
          <p:cNvSpPr/>
          <p:nvPr/>
        </p:nvSpPr>
        <p:spPr>
          <a:xfrm>
            <a:off x="4152900" y="3169245"/>
            <a:ext cx="571500" cy="139700"/>
          </a:xfrm>
          <a:prstGeom prst="roundRect">
            <a:avLst>
              <a:gd name="adj" fmla="val 13636"/>
            </a:avLst>
          </a:prstGeom>
          <a:solidFill>
            <a:srgbClr val="0C2E22"/>
          </a:solidFill>
          <a:ln/>
        </p:spPr>
      </p:sp>
      <p:sp>
        <p:nvSpPr>
          <p:cNvPr id="34" name="Shape 32"/>
          <p:cNvSpPr/>
          <p:nvPr/>
        </p:nvSpPr>
        <p:spPr>
          <a:xfrm>
            <a:off x="5651500" y="3042245"/>
            <a:ext cx="1485900" cy="406400"/>
          </a:xfrm>
          <a:prstGeom prst="roundRect">
            <a:avLst>
              <a:gd name="adj" fmla="val 4688"/>
            </a:avLst>
          </a:prstGeom>
          <a:solidFill>
            <a:srgbClr val="F2F7F3"/>
          </a:solidFill>
          <a:ln/>
        </p:spPr>
      </p:sp>
      <p:sp>
        <p:nvSpPr>
          <p:cNvPr id="35" name="Shape 33"/>
          <p:cNvSpPr/>
          <p:nvPr/>
        </p:nvSpPr>
        <p:spPr>
          <a:xfrm>
            <a:off x="5651500" y="3042245"/>
            <a:ext cx="1485900" cy="406400"/>
          </a:xfrm>
          <a:custGeom>
            <a:avLst/>
            <a:gdLst/>
            <a:ahLst/>
            <a:cxnLst/>
            <a:rect l="l" t="t" r="r" b="b"/>
            <a:pathLst>
              <a:path w="1485900" h="406400">
                <a:moveTo>
                  <a:pt x="0" y="25400"/>
                </a:moveTo>
                <a:lnTo>
                  <a:pt x="0" y="19050"/>
                </a:lnTo>
                <a:arcTo hR="19050" wR="19050" stAng="10800000" swAng="5400000"/>
                <a:lnTo>
                  <a:pt x="1466850" y="0"/>
                </a:lnTo>
                <a:arcTo hR="19050" wR="19050" stAng="16200000" swAng="5400000"/>
                <a:lnTo>
                  <a:pt x="1485900" y="25400"/>
                </a:lnTo>
                <a:lnTo>
                  <a:pt x="0" y="25400"/>
                </a:lnTo>
                <a:close/>
              </a:path>
            </a:pathLst>
          </a:custGeom>
          <a:solidFill>
            <a:srgbClr val="0B6B45"/>
          </a:solidFill>
          <a:ln/>
        </p:spPr>
      </p:sp>
      <p:sp>
        <p:nvSpPr>
          <p:cNvPr id="36" name="Shape 34"/>
          <p:cNvSpPr/>
          <p:nvPr/>
        </p:nvSpPr>
        <p:spPr>
          <a:xfrm>
            <a:off x="5715000" y="3118445"/>
            <a:ext cx="381000" cy="50800"/>
          </a:xfrm>
          <a:prstGeom prst="roundRect">
            <a:avLst>
              <a:gd name="adj" fmla="val 37500"/>
            </a:avLst>
          </a:prstGeom>
          <a:solidFill>
            <a:srgbClr val="C9DCCF"/>
          </a:solidFill>
          <a:ln/>
        </p:spPr>
      </p:sp>
      <p:sp>
        <p:nvSpPr>
          <p:cNvPr id="37" name="Shape 35"/>
          <p:cNvSpPr/>
          <p:nvPr/>
        </p:nvSpPr>
        <p:spPr>
          <a:xfrm>
            <a:off x="5715000" y="3169245"/>
            <a:ext cx="571500" cy="139700"/>
          </a:xfrm>
          <a:prstGeom prst="roundRect">
            <a:avLst>
              <a:gd name="adj" fmla="val 13636"/>
            </a:avLst>
          </a:prstGeom>
          <a:solidFill>
            <a:srgbClr val="0C2E22"/>
          </a:solidFill>
          <a:ln/>
        </p:spPr>
      </p:sp>
      <p:sp>
        <p:nvSpPr>
          <p:cNvPr id="38" name="Shape 36"/>
          <p:cNvSpPr/>
          <p:nvPr/>
        </p:nvSpPr>
        <p:spPr>
          <a:xfrm>
            <a:off x="965200" y="3537545"/>
            <a:ext cx="3508375" cy="952500"/>
          </a:xfrm>
          <a:prstGeom prst="roundRect">
            <a:avLst>
              <a:gd name="adj" fmla="val 2000"/>
            </a:avLst>
          </a:prstGeom>
          <a:solidFill>
            <a:srgbClr val="F2F7F3"/>
          </a:solidFill>
          <a:ln/>
        </p:spPr>
      </p:sp>
      <p:sp>
        <p:nvSpPr>
          <p:cNvPr id="39" name="Shape 37"/>
          <p:cNvSpPr/>
          <p:nvPr/>
        </p:nvSpPr>
        <p:spPr>
          <a:xfrm>
            <a:off x="965200" y="3537545"/>
            <a:ext cx="3508375" cy="952500"/>
          </a:xfrm>
          <a:custGeom>
            <a:avLst/>
            <a:gdLst/>
            <a:ahLst/>
            <a:cxnLst/>
            <a:rect l="l" t="t" r="r" b="b"/>
            <a:pathLst>
              <a:path w="3508375" h="952500">
                <a:moveTo>
                  <a:pt x="0" y="25400"/>
                </a:moveTo>
                <a:lnTo>
                  <a:pt x="0" y="19050"/>
                </a:lnTo>
                <a:arcTo hR="19050" wR="19050" stAng="10800000" swAng="5400000"/>
                <a:lnTo>
                  <a:pt x="3489325" y="0"/>
                </a:lnTo>
                <a:arcTo hR="19050" wR="19050" stAng="16200000" swAng="5400000"/>
                <a:lnTo>
                  <a:pt x="3508375" y="25400"/>
                </a:lnTo>
                <a:lnTo>
                  <a:pt x="0" y="25400"/>
                </a:lnTo>
                <a:close/>
              </a:path>
            </a:pathLst>
          </a:custGeom>
          <a:solidFill>
            <a:srgbClr val="0B6B45"/>
          </a:solidFill>
          <a:ln/>
        </p:spPr>
      </p:sp>
      <p:sp>
        <p:nvSpPr>
          <p:cNvPr id="40" name="Shape 38"/>
          <p:cNvSpPr/>
          <p:nvPr/>
        </p:nvSpPr>
        <p:spPr>
          <a:xfrm>
            <a:off x="1041400" y="4032845"/>
            <a:ext cx="190500" cy="381000"/>
          </a:xfrm>
          <a:prstGeom prst="rect">
            <a:avLst/>
          </a:prstGeom>
          <a:solidFill>
            <a:srgbClr val="C4480E"/>
          </a:solidFill>
          <a:ln/>
        </p:spPr>
      </p:sp>
      <p:sp>
        <p:nvSpPr>
          <p:cNvPr id="41" name="Shape 39"/>
          <p:cNvSpPr/>
          <p:nvPr/>
        </p:nvSpPr>
        <p:spPr>
          <a:xfrm>
            <a:off x="1282700" y="3842345"/>
            <a:ext cx="190500" cy="571500"/>
          </a:xfrm>
          <a:prstGeom prst="rect">
            <a:avLst/>
          </a:prstGeom>
          <a:solidFill>
            <a:srgbClr val="0E7A4F"/>
          </a:solidFill>
          <a:ln/>
        </p:spPr>
      </p:sp>
      <p:sp>
        <p:nvSpPr>
          <p:cNvPr id="42" name="Shape 40"/>
          <p:cNvSpPr/>
          <p:nvPr/>
        </p:nvSpPr>
        <p:spPr>
          <a:xfrm>
            <a:off x="1524000" y="3969345"/>
            <a:ext cx="190500" cy="444500"/>
          </a:xfrm>
          <a:prstGeom prst="rect">
            <a:avLst/>
          </a:prstGeom>
          <a:solidFill>
            <a:srgbClr val="5A38B4"/>
          </a:solidFill>
          <a:ln/>
        </p:spPr>
      </p:sp>
      <p:sp>
        <p:nvSpPr>
          <p:cNvPr id="43" name="Shape 41"/>
          <p:cNvSpPr/>
          <p:nvPr/>
        </p:nvSpPr>
        <p:spPr>
          <a:xfrm>
            <a:off x="1765300" y="3715345"/>
            <a:ext cx="190500" cy="698500"/>
          </a:xfrm>
          <a:prstGeom prst="rect">
            <a:avLst/>
          </a:prstGeom>
          <a:solidFill>
            <a:srgbClr val="1D52C7"/>
          </a:solidFill>
          <a:ln/>
        </p:spPr>
      </p:sp>
      <p:sp>
        <p:nvSpPr>
          <p:cNvPr id="44" name="Shape 42"/>
          <p:cNvSpPr/>
          <p:nvPr/>
        </p:nvSpPr>
        <p:spPr>
          <a:xfrm>
            <a:off x="2006600" y="3905845"/>
            <a:ext cx="190500" cy="508000"/>
          </a:xfrm>
          <a:prstGeom prst="rect">
            <a:avLst/>
          </a:prstGeom>
          <a:solidFill>
            <a:srgbClr val="0E7A4F"/>
          </a:solidFill>
          <a:ln/>
        </p:spPr>
      </p:sp>
      <p:sp>
        <p:nvSpPr>
          <p:cNvPr id="45" name="Shape 43"/>
          <p:cNvSpPr/>
          <p:nvPr/>
        </p:nvSpPr>
        <p:spPr>
          <a:xfrm>
            <a:off x="4562475" y="3537545"/>
            <a:ext cx="2574925" cy="952500"/>
          </a:xfrm>
          <a:prstGeom prst="roundRect">
            <a:avLst>
              <a:gd name="adj" fmla="val 2000"/>
            </a:avLst>
          </a:prstGeom>
          <a:solidFill>
            <a:srgbClr val="F2F7F3"/>
          </a:solidFill>
          <a:ln/>
        </p:spPr>
      </p:sp>
      <p:sp>
        <p:nvSpPr>
          <p:cNvPr id="46" name="Shape 44"/>
          <p:cNvSpPr/>
          <p:nvPr/>
        </p:nvSpPr>
        <p:spPr>
          <a:xfrm>
            <a:off x="4562475" y="3537545"/>
            <a:ext cx="2574925" cy="952500"/>
          </a:xfrm>
          <a:custGeom>
            <a:avLst/>
            <a:gdLst/>
            <a:ahLst/>
            <a:cxnLst/>
            <a:rect l="l" t="t" r="r" b="b"/>
            <a:pathLst>
              <a:path w="2574925" h="952500">
                <a:moveTo>
                  <a:pt x="0" y="25400"/>
                </a:moveTo>
                <a:lnTo>
                  <a:pt x="0" y="19050"/>
                </a:lnTo>
                <a:arcTo hR="19050" wR="19050" stAng="10800000" swAng="5400000"/>
                <a:lnTo>
                  <a:pt x="2555875" y="0"/>
                </a:lnTo>
                <a:arcTo hR="19050" wR="19050" stAng="16200000" swAng="5400000"/>
                <a:lnTo>
                  <a:pt x="2574925" y="25400"/>
                </a:lnTo>
                <a:lnTo>
                  <a:pt x="0" y="25400"/>
                </a:lnTo>
                <a:close/>
              </a:path>
            </a:pathLst>
          </a:custGeom>
          <a:solidFill>
            <a:srgbClr val="0B6B45"/>
          </a:solidFill>
          <a:ln/>
        </p:spPr>
      </p:sp>
      <p:sp>
        <p:nvSpPr>
          <p:cNvPr id="47" name="Shape 45"/>
          <p:cNvSpPr/>
          <p:nvPr/>
        </p:nvSpPr>
        <p:spPr>
          <a:xfrm>
            <a:off x="4651375" y="3651845"/>
            <a:ext cx="2397125" cy="63500"/>
          </a:xfrm>
          <a:prstGeom prst="roundRect">
            <a:avLst>
              <a:gd name="adj" fmla="val 30000"/>
            </a:avLst>
          </a:prstGeom>
          <a:solidFill>
            <a:srgbClr val="C9DCCF"/>
          </a:solidFill>
          <a:ln/>
        </p:spPr>
      </p:sp>
      <p:sp>
        <p:nvSpPr>
          <p:cNvPr id="48" name="Shape 46"/>
          <p:cNvSpPr/>
          <p:nvPr/>
        </p:nvSpPr>
        <p:spPr>
          <a:xfrm>
            <a:off x="4651375" y="3791545"/>
            <a:ext cx="2397125" cy="63500"/>
          </a:xfrm>
          <a:prstGeom prst="roundRect">
            <a:avLst>
              <a:gd name="adj" fmla="val 30000"/>
            </a:avLst>
          </a:prstGeom>
          <a:solidFill>
            <a:srgbClr val="C9DCCF"/>
          </a:solidFill>
          <a:ln/>
        </p:spPr>
      </p:sp>
      <p:sp>
        <p:nvSpPr>
          <p:cNvPr id="49" name="Shape 47"/>
          <p:cNvSpPr/>
          <p:nvPr/>
        </p:nvSpPr>
        <p:spPr>
          <a:xfrm>
            <a:off x="4651375" y="3931245"/>
            <a:ext cx="2397125" cy="63500"/>
          </a:xfrm>
          <a:prstGeom prst="roundRect">
            <a:avLst>
              <a:gd name="adj" fmla="val 30000"/>
            </a:avLst>
          </a:prstGeom>
          <a:solidFill>
            <a:srgbClr val="D6ECE0"/>
          </a:solidFill>
          <a:ln/>
        </p:spPr>
      </p:sp>
      <p:sp>
        <p:nvSpPr>
          <p:cNvPr id="50" name="Shape 48"/>
          <p:cNvSpPr/>
          <p:nvPr/>
        </p:nvSpPr>
        <p:spPr>
          <a:xfrm>
            <a:off x="4651375" y="4070945"/>
            <a:ext cx="2397125" cy="63500"/>
          </a:xfrm>
          <a:prstGeom prst="roundRect">
            <a:avLst>
              <a:gd name="adj" fmla="val 30000"/>
            </a:avLst>
          </a:prstGeom>
          <a:solidFill>
            <a:srgbClr val="C9DCCF"/>
          </a:solidFill>
          <a:ln/>
        </p:spPr>
      </p:sp>
      <p:sp>
        <p:nvSpPr>
          <p:cNvPr id="51" name="Shape 49"/>
          <p:cNvSpPr/>
          <p:nvPr/>
        </p:nvSpPr>
        <p:spPr>
          <a:xfrm>
            <a:off x="825500" y="4578945"/>
            <a:ext cx="6451600" cy="342900"/>
          </a:xfrm>
          <a:custGeom>
            <a:avLst/>
            <a:gdLst/>
            <a:ahLst/>
            <a:cxnLst/>
            <a:rect l="l" t="t" r="r" b="b"/>
            <a:pathLst>
              <a:path w="6451600" h="342900">
                <a:moveTo>
                  <a:pt x="19050" y="0"/>
                </a:moveTo>
                <a:lnTo>
                  <a:pt x="6432550" y="0"/>
                </a:lnTo>
                <a:arcTo hR="19050" wR="19050" stAng="16200000" swAng="5400000"/>
                <a:lnTo>
                  <a:pt x="6451600" y="317500"/>
                </a:lnTo>
                <a:arcTo hR="25400" wR="25400" stAng="0" swAng="5400000"/>
                <a:lnTo>
                  <a:pt x="25400" y="342900"/>
                </a:lnTo>
                <a:arcTo hR="25400" wR="25400" stAng="5400000" swAng="5400000"/>
                <a:lnTo>
                  <a:pt x="0" y="19050"/>
                </a:lnTo>
                <a:arcTo hR="19050" wR="19050" stAng="10800000" swAng="5400000"/>
                <a:close/>
              </a:path>
            </a:pathLst>
          </a:custGeom>
          <a:solidFill>
            <a:srgbClr val="F2F7F3"/>
          </a:solidFill>
          <a:ln/>
        </p:spPr>
      </p:sp>
      <p:sp>
        <p:nvSpPr>
          <p:cNvPr id="52" name="Shape 50"/>
          <p:cNvSpPr/>
          <p:nvPr/>
        </p:nvSpPr>
        <p:spPr>
          <a:xfrm>
            <a:off x="825500" y="4578945"/>
            <a:ext cx="6451600" cy="342900"/>
          </a:xfrm>
          <a:custGeom>
            <a:avLst/>
            <a:gdLst/>
            <a:ahLst/>
            <a:cxnLst/>
            <a:rect l="l" t="t" r="r" b="b"/>
            <a:pathLst>
              <a:path w="6451600" h="342900">
                <a:moveTo>
                  <a:pt x="0" y="25400"/>
                </a:moveTo>
                <a:lnTo>
                  <a:pt x="0" y="19050"/>
                </a:lnTo>
                <a:arcTo hR="19050" wR="19050" stAng="10800000" swAng="5400000"/>
                <a:lnTo>
                  <a:pt x="6432550" y="0"/>
                </a:lnTo>
                <a:arcTo hR="19050" wR="19050" stAng="16200000" swAng="5400000"/>
                <a:lnTo>
                  <a:pt x="6451600" y="25400"/>
                </a:lnTo>
                <a:lnTo>
                  <a:pt x="0" y="25400"/>
                </a:lnTo>
                <a:close/>
              </a:path>
            </a:pathLst>
          </a:custGeom>
          <a:solidFill>
            <a:srgbClr val="5A38B4"/>
          </a:solidFill>
          <a:ln/>
        </p:spPr>
      </p:sp>
      <p:sp>
        <p:nvSpPr>
          <p:cNvPr id="53" name="Shape 51"/>
          <p:cNvSpPr/>
          <p:nvPr/>
        </p:nvSpPr>
        <p:spPr>
          <a:xfrm>
            <a:off x="901700" y="4724995"/>
            <a:ext cx="698500" cy="76200"/>
          </a:xfrm>
          <a:prstGeom prst="roundRect">
            <a:avLst>
              <a:gd name="adj" fmla="val 25000"/>
            </a:avLst>
          </a:prstGeom>
          <a:solidFill>
            <a:srgbClr val="5A38B4"/>
          </a:solidFill>
          <a:ln/>
        </p:spPr>
      </p:sp>
      <p:sp>
        <p:nvSpPr>
          <p:cNvPr id="54" name="Shape 52"/>
          <p:cNvSpPr/>
          <p:nvPr/>
        </p:nvSpPr>
        <p:spPr>
          <a:xfrm>
            <a:off x="1682750" y="4686895"/>
            <a:ext cx="5118100" cy="152400"/>
          </a:xfrm>
          <a:prstGeom prst="roundRect">
            <a:avLst>
              <a:gd name="adj" fmla="val 8333"/>
            </a:avLst>
          </a:prstGeom>
          <a:noFill/>
          <a:ln w="12700">
            <a:solidFill>
              <a:srgbClr val="0C2E22"/>
            </a:solidFill>
            <a:prstDash val="solid"/>
          </a:ln>
        </p:spPr>
      </p:sp>
      <p:sp>
        <p:nvSpPr>
          <p:cNvPr id="55" name="Shape 53"/>
          <p:cNvSpPr/>
          <p:nvPr/>
        </p:nvSpPr>
        <p:spPr>
          <a:xfrm>
            <a:off x="6883400" y="4680545"/>
            <a:ext cx="317500" cy="165100"/>
          </a:xfrm>
          <a:prstGeom prst="roundRect">
            <a:avLst>
              <a:gd name="adj" fmla="val 11538"/>
            </a:avLst>
          </a:prstGeom>
          <a:solidFill>
            <a:srgbClr val="0B6B45"/>
          </a:solidFill>
          <a:ln/>
        </p:spPr>
      </p:sp>
      <p:sp>
        <p:nvSpPr>
          <p:cNvPr id="56" name="Text 54"/>
          <p:cNvSpPr/>
          <p:nvPr/>
        </p:nvSpPr>
        <p:spPr>
          <a:xfrm>
            <a:off x="7543800" y="1543645"/>
            <a:ext cx="279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6B45"/>
                </a:solidFill>
                <a:latin typeface="JetBrains Mono" pitchFamily="49" charset="0"/>
                <a:ea typeface="JetBrains Mono" pitchFamily="49" charset="-122"/>
                <a:cs typeface="JetBrains Mono" pitchFamily="49" charset="-120"/>
              </a:rPr>
              <a:t>1</a:t>
            </a:r>
            <a:endParaRPr lang="en-US" sz="1300" dirty="0"/>
          </a:p>
        </p:txBody>
      </p:sp>
      <p:sp>
        <p:nvSpPr>
          <p:cNvPr id="57" name="Text 55"/>
          <p:cNvSpPr/>
          <p:nvPr/>
        </p:nvSpPr>
        <p:spPr>
          <a:xfrm>
            <a:off x="7861300" y="1562695"/>
            <a:ext cx="3311188"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Masthead.</a:t>
            </a:r>
            <a:r>
              <a:rPr lang="en-US" sz="1200" dirty="0">
                <a:solidFill>
                  <a:srgbClr val="0C2E22"/>
                </a:solidFill>
                <a:latin typeface="Public Sans" pitchFamily="34" charset="0"/>
                <a:ea typeface="Public Sans" pitchFamily="34" charset="-122"/>
                <a:cs typeface="Public Sans" pitchFamily="34" charset="-120"/>
              </a:rPr>
              <a:t> Five sections, theme toggle.</a:t>
            </a:r>
            <a:endParaRPr lang="en-US" sz="1200" dirty="0"/>
          </a:p>
        </p:txBody>
      </p:sp>
      <p:sp>
        <p:nvSpPr>
          <p:cNvPr id="58" name="Text 56"/>
          <p:cNvSpPr/>
          <p:nvPr/>
        </p:nvSpPr>
        <p:spPr>
          <a:xfrm>
            <a:off x="7543800" y="1838275"/>
            <a:ext cx="279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6B45"/>
                </a:solidFill>
                <a:latin typeface="JetBrains Mono" pitchFamily="49" charset="0"/>
                <a:ea typeface="JetBrains Mono" pitchFamily="49" charset="-122"/>
                <a:cs typeface="JetBrains Mono" pitchFamily="49" charset="-120"/>
              </a:rPr>
              <a:t>2</a:t>
            </a:r>
            <a:endParaRPr lang="en-US" sz="1300" dirty="0"/>
          </a:p>
        </p:txBody>
      </p:sp>
      <p:sp>
        <p:nvSpPr>
          <p:cNvPr id="59" name="Text 57"/>
          <p:cNvSpPr/>
          <p:nvPr/>
        </p:nvSpPr>
        <p:spPr>
          <a:xfrm>
            <a:off x="7861300" y="1857325"/>
            <a:ext cx="3177659"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Sheet bar.</a:t>
            </a:r>
            <a:r>
              <a:rPr lang="en-US" sz="1200" dirty="0">
                <a:solidFill>
                  <a:srgbClr val="0C2E22"/>
                </a:solidFill>
                <a:latin typeface="Public Sans" pitchFamily="34" charset="0"/>
                <a:ea typeface="Public Sans" pitchFamily="34" charset="-122"/>
                <a:cs typeface="Public Sans" pitchFamily="34" charset="-120"/>
              </a:rPr>
              <a:t> Sheets of this section only.</a:t>
            </a:r>
            <a:endParaRPr lang="en-US" sz="1200" dirty="0"/>
          </a:p>
        </p:txBody>
      </p:sp>
      <p:sp>
        <p:nvSpPr>
          <p:cNvPr id="60" name="Text 58"/>
          <p:cNvSpPr/>
          <p:nvPr/>
        </p:nvSpPr>
        <p:spPr>
          <a:xfrm>
            <a:off x="7543800" y="2132905"/>
            <a:ext cx="279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6B45"/>
                </a:solidFill>
                <a:latin typeface="JetBrains Mono" pitchFamily="49" charset="0"/>
                <a:ea typeface="JetBrains Mono" pitchFamily="49" charset="-122"/>
                <a:cs typeface="JetBrains Mono" pitchFamily="49" charset="-120"/>
              </a:rPr>
              <a:t>3</a:t>
            </a:r>
            <a:endParaRPr lang="en-US" sz="1300" dirty="0"/>
          </a:p>
        </p:txBody>
      </p:sp>
      <p:sp>
        <p:nvSpPr>
          <p:cNvPr id="61" name="Text 59"/>
          <p:cNvSpPr/>
          <p:nvPr/>
        </p:nvSpPr>
        <p:spPr>
          <a:xfrm>
            <a:off x="7861300" y="2151955"/>
            <a:ext cx="3840778"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Question.</a:t>
            </a:r>
            <a:r>
              <a:rPr lang="en-US" sz="1200" dirty="0">
                <a:solidFill>
                  <a:srgbClr val="0C2E22"/>
                </a:solidFill>
                <a:latin typeface="Public Sans" pitchFamily="34" charset="0"/>
                <a:ea typeface="Public Sans" pitchFamily="34" charset="-122"/>
                <a:cs typeface="Public Sans" pitchFamily="34" charset="-120"/>
              </a:rPr>
              <a:t> The title is what the sheet answers.</a:t>
            </a:r>
            <a:endParaRPr lang="en-US" sz="1200" dirty="0"/>
          </a:p>
        </p:txBody>
      </p:sp>
      <p:sp>
        <p:nvSpPr>
          <p:cNvPr id="62" name="Text 60"/>
          <p:cNvSpPr/>
          <p:nvPr/>
        </p:nvSpPr>
        <p:spPr>
          <a:xfrm>
            <a:off x="7543800" y="2427536"/>
            <a:ext cx="279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6B45"/>
                </a:solidFill>
                <a:latin typeface="JetBrains Mono" pitchFamily="49" charset="0"/>
                <a:ea typeface="JetBrains Mono" pitchFamily="49" charset="-122"/>
                <a:cs typeface="JetBrains Mono" pitchFamily="49" charset="-120"/>
              </a:rPr>
              <a:t>4</a:t>
            </a:r>
            <a:endParaRPr lang="en-US" sz="1300" dirty="0"/>
          </a:p>
        </p:txBody>
      </p:sp>
      <p:sp>
        <p:nvSpPr>
          <p:cNvPr id="63" name="Text 61"/>
          <p:cNvSpPr/>
          <p:nvPr/>
        </p:nvSpPr>
        <p:spPr>
          <a:xfrm>
            <a:off x="7861300" y="2446586"/>
            <a:ext cx="3509427"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Controls.</a:t>
            </a:r>
            <a:r>
              <a:rPr lang="en-US" sz="1200" dirty="0">
                <a:solidFill>
                  <a:srgbClr val="0C2E22"/>
                </a:solidFill>
                <a:latin typeface="Public Sans" pitchFamily="34" charset="0"/>
                <a:ea typeface="Public Sans" pitchFamily="34" charset="-122"/>
                <a:cs typeface="Public Sans" pitchFamily="34" charset="-120"/>
              </a:rPr>
              <a:t> Scenario, city, horizon or inputs.</a:t>
            </a:r>
            <a:endParaRPr lang="en-US" sz="1200" dirty="0"/>
          </a:p>
        </p:txBody>
      </p:sp>
      <p:sp>
        <p:nvSpPr>
          <p:cNvPr id="64" name="Text 62"/>
          <p:cNvSpPr/>
          <p:nvPr/>
        </p:nvSpPr>
        <p:spPr>
          <a:xfrm>
            <a:off x="7543800" y="2722166"/>
            <a:ext cx="279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6B45"/>
                </a:solidFill>
                <a:latin typeface="JetBrains Mono" pitchFamily="49" charset="0"/>
                <a:ea typeface="JetBrains Mono" pitchFamily="49" charset="-122"/>
                <a:cs typeface="JetBrains Mono" pitchFamily="49" charset="-120"/>
              </a:rPr>
              <a:t>5</a:t>
            </a:r>
            <a:endParaRPr lang="en-US" sz="1300" dirty="0"/>
          </a:p>
        </p:txBody>
      </p:sp>
      <p:sp>
        <p:nvSpPr>
          <p:cNvPr id="65" name="Text 63"/>
          <p:cNvSpPr/>
          <p:nvPr/>
        </p:nvSpPr>
        <p:spPr>
          <a:xfrm>
            <a:off x="7861300" y="2741216"/>
            <a:ext cx="3979605"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Headline numbers.</a:t>
            </a:r>
            <a:r>
              <a:rPr lang="en-US" sz="1200" dirty="0">
                <a:solidFill>
                  <a:srgbClr val="0C2E22"/>
                </a:solidFill>
                <a:latin typeface="Public Sans" pitchFamily="34" charset="0"/>
                <a:ea typeface="Public Sans" pitchFamily="34" charset="-122"/>
                <a:cs typeface="Public Sans" pitchFamily="34" charset="-120"/>
              </a:rPr>
              <a:t> The summary before detail.</a:t>
            </a:r>
            <a:endParaRPr lang="en-US" sz="1200" dirty="0"/>
          </a:p>
        </p:txBody>
      </p:sp>
      <p:sp>
        <p:nvSpPr>
          <p:cNvPr id="66" name="Text 64"/>
          <p:cNvSpPr/>
          <p:nvPr/>
        </p:nvSpPr>
        <p:spPr>
          <a:xfrm>
            <a:off x="7543800" y="3016796"/>
            <a:ext cx="279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6B45"/>
                </a:solidFill>
                <a:latin typeface="JetBrains Mono" pitchFamily="49" charset="0"/>
                <a:ea typeface="JetBrains Mono" pitchFamily="49" charset="-122"/>
                <a:cs typeface="JetBrains Mono" pitchFamily="49" charset="-120"/>
              </a:rPr>
              <a:t>6</a:t>
            </a:r>
            <a:endParaRPr lang="en-US" sz="1300" dirty="0"/>
          </a:p>
        </p:txBody>
      </p:sp>
      <p:sp>
        <p:nvSpPr>
          <p:cNvPr id="67" name="Text 65"/>
          <p:cNvSpPr/>
          <p:nvPr/>
        </p:nvSpPr>
        <p:spPr>
          <a:xfrm>
            <a:off x="7861300" y="3035846"/>
            <a:ext cx="3794581"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Chart and table.</a:t>
            </a:r>
            <a:r>
              <a:rPr lang="en-US" sz="1200" dirty="0">
                <a:solidFill>
                  <a:srgbClr val="0C2E22"/>
                </a:solidFill>
                <a:latin typeface="Public Sans" pitchFamily="34" charset="0"/>
                <a:ea typeface="Public Sans" pitchFamily="34" charset="-122"/>
                <a:cs typeface="Public Sans" pitchFamily="34" charset="-120"/>
              </a:rPr>
              <a:t> Colours keep their meaning.</a:t>
            </a:r>
            <a:endParaRPr lang="en-US" sz="1200" dirty="0"/>
          </a:p>
        </p:txBody>
      </p:sp>
      <p:sp>
        <p:nvSpPr>
          <p:cNvPr id="68" name="Text 66"/>
          <p:cNvSpPr/>
          <p:nvPr/>
        </p:nvSpPr>
        <p:spPr>
          <a:xfrm>
            <a:off x="7543800" y="3311426"/>
            <a:ext cx="2794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5A38B4"/>
                </a:solidFill>
                <a:latin typeface="JetBrains Mono" pitchFamily="49" charset="0"/>
                <a:ea typeface="JetBrains Mono" pitchFamily="49" charset="-122"/>
                <a:cs typeface="JetBrains Mono" pitchFamily="49" charset="-120"/>
              </a:rPr>
              <a:t>7</a:t>
            </a:r>
            <a:endParaRPr lang="en-US" sz="1300" dirty="0"/>
          </a:p>
        </p:txBody>
      </p:sp>
      <p:sp>
        <p:nvSpPr>
          <p:cNvPr id="69" name="Text 67"/>
          <p:cNvSpPr/>
          <p:nvPr/>
        </p:nvSpPr>
        <p:spPr>
          <a:xfrm>
            <a:off x="7861300" y="3330476"/>
            <a:ext cx="3668137" cy="22349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Analyst.</a:t>
            </a:r>
            <a:r>
              <a:rPr lang="en-US" sz="1200" dirty="0">
                <a:solidFill>
                  <a:srgbClr val="0C2E22"/>
                </a:solidFill>
                <a:latin typeface="Public Sans" pitchFamily="34" charset="0"/>
                <a:ea typeface="Public Sans" pitchFamily="34" charset="-122"/>
                <a:cs typeface="Public Sans" pitchFamily="34" charset="-120"/>
              </a:rPr>
              <a:t> Ask, with the exact context shown.</a:t>
            </a:r>
            <a:endParaRPr lang="en-US" sz="1200" dirty="0"/>
          </a:p>
        </p:txBody>
      </p:sp>
      <p:sp>
        <p:nvSpPr>
          <p:cNvPr id="70" name="Text 6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Phone width stacks to one column with no sideways scroll</a:t>
            </a:r>
            <a:endParaRPr lang="en-US" sz="1200" dirty="0"/>
          </a:p>
        </p:txBody>
      </p:sp>
      <p:sp>
        <p:nvSpPr>
          <p:cNvPr id="71" name="Text 69"/>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2E22"/>
        </a:solidFill>
      </p:bgPr>
    </p:bg>
    <p:spTree>
      <p:nvGrpSpPr>
        <p:cNvPr id="1" name=""/>
        <p:cNvGrpSpPr/>
        <p:nvPr/>
      </p:nvGrpSpPr>
      <p:grpSpPr>
        <a:xfrm>
          <a:off x="0" y="0"/>
          <a:ext cx="0" cy="0"/>
          <a:chOff x="0" y="0"/>
          <a:chExt cx="0" cy="0"/>
        </a:xfrm>
      </p:grpSpPr>
      <p:sp>
        <p:nvSpPr>
          <p:cNvPr id="2" name="Text 0"/>
          <p:cNvSpPr/>
          <p:nvPr/>
        </p:nvSpPr>
        <p:spPr>
          <a:xfrm>
            <a:off x="812800" y="6985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6FD6A8"/>
                </a:solidFill>
                <a:latin typeface="JetBrains Mono" pitchFamily="49" charset="0"/>
                <a:ea typeface="JetBrains Mono" pitchFamily="49" charset="-122"/>
                <a:cs typeface="JetBrains Mono" pitchFamily="49" charset="-120"/>
              </a:rPr>
              <a:t>PROJECT SCREENSHOTS · THE RUNNING SITE</a:t>
            </a:r>
            <a:endParaRPr lang="en-US" sz="1300" dirty="0"/>
          </a:p>
        </p:txBody>
      </p:sp>
      <p:sp>
        <p:nvSpPr>
          <p:cNvPr id="3" name="Text 1"/>
          <p:cNvSpPr/>
          <p:nvPr>
            <p:ph type="title"/>
          </p:nvPr>
        </p:nvSpPr>
        <p:spPr>
          <a:xfrm>
            <a:off x="812800" y="967730"/>
            <a:ext cx="10883392" cy="345430"/>
          </a:xfrm>
          <a:prstGeom prst="rect">
            <a:avLst/>
          </a:prstGeom>
          <a:noFill/>
          <a:ln/>
        </p:spPr>
        <p:txBody>
          <a:bodyPr wrap="square" lIns="0" tIns="0" rIns="0" bIns="0" rtlCol="0" anchor="t">
            <a:normAutofit/>
          </a:bodyPr>
          <a:lstStyle/>
          <a:p>
            <a:pPr algn="l" indent="0" marL="0">
              <a:lnSpc>
                <a:spcPts val="2520"/>
              </a:lnSpc>
              <a:buNone/>
            </a:pPr>
            <a:r>
              <a:rPr lang="en-US" sz="2400" b="1" i="0" spc="-100" kern="0" dirty="0">
                <a:solidFill>
                  <a:srgbClr val="FFFFFF"/>
                </a:solidFill>
                <a:latin typeface="Archivo" pitchFamily="34" charset="0"/>
                <a:ea typeface="Archivo" pitchFamily="34" charset="-122"/>
                <a:cs typeface="Archivo" pitchFamily="34" charset="-120"/>
              </a:rPr>
              <a:t>Real pages, real numbers.</a:t>
            </a:r>
            <a:endParaRPr lang="en-US" sz="2400" dirty="0"/>
          </a:p>
        </p:txBody>
      </p:sp>
      <p:sp>
        <p:nvSpPr>
          <p:cNvPr id="4" name="Shape 2"/>
          <p:cNvSpPr/>
          <p:nvPr/>
        </p:nvSpPr>
        <p:spPr>
          <a:xfrm>
            <a:off x="819150" y="1421110"/>
            <a:ext cx="3424734" cy="2006600"/>
          </a:xfrm>
          <a:prstGeom prst="roundRect">
            <a:avLst>
              <a:gd name="adj" fmla="val 1582"/>
            </a:avLst>
          </a:prstGeom>
          <a:noFill/>
          <a:ln w="12700">
            <a:solidFill>
              <a:srgbClr val="1F5A43"/>
            </a:solidFill>
            <a:prstDash val="solid"/>
          </a:ln>
        </p:spPr>
      </p:sp>
      <p:pic>
        <p:nvPicPr>
          <p:cNvPr id="5" name="Image 0" descr="Overview page with four live readings">    </p:cNvPr>
          <p:cNvPicPr>
            <a:picLocks noChangeAspect="1"/>
          </p:cNvPicPr>
          <p:nvPr/>
        </p:nvPicPr>
        <p:blipFill>
          <a:blip r:embed="rId1"/>
          <a:srcRect l="1990" r="1990" t="0" b="0"/>
          <a:stretch/>
        </p:blipFill>
        <p:spPr>
          <a:xfrm>
            <a:off x="825500" y="1427460"/>
            <a:ext cx="3403600" cy="1993900"/>
          </a:xfrm>
          <a:custGeom>
            <a:avLst/>
            <a:gdLst/>
            <a:ahLst/>
            <a:cxnLst/>
            <a:rect l="l" t="t" r="r" b="b"/>
            <a:pathLst>
              <a:path w="3403600" h="1993900">
                <a:moveTo>
                  <a:pt x="0" y="25400"/>
                </a:moveTo>
                <a:arcTo wR="25400" hR="25400" stAng="10800000" swAng="5400000"/>
                <a:lnTo>
                  <a:pt x="3403600" y="0"/>
                </a:lnTo>
                <a:lnTo>
                  <a:pt x="3403600" y="1993900"/>
                </a:lnTo>
                <a:lnTo>
                  <a:pt x="25400" y="1993900"/>
                </a:lnTo>
                <a:arcTo wR="25400" hR="25400" stAng="5400000" swAng="5400000"/>
                <a:close/>
              </a:path>
            </a:pathLst>
          </a:custGeom>
        </p:spPr>
      </p:pic>
      <p:sp>
        <p:nvSpPr>
          <p:cNvPr id="6" name="Text 3"/>
          <p:cNvSpPr/>
          <p:nvPr/>
        </p:nvSpPr>
        <p:spPr>
          <a:xfrm>
            <a:off x="812800" y="3144540"/>
            <a:ext cx="3403600" cy="289520"/>
          </a:xfrm>
          <a:prstGeom prst="rect">
            <a:avLst/>
          </a:prstGeom>
          <a:solidFill>
            <a:srgbClr val="0C3D2C"/>
          </a:solidFill>
          <a:ln/>
        </p:spPr>
        <p:txBody>
          <a:bodyPr wrap="square" lIns="88900" tIns="38100" rIns="0" bIns="12700" rtlCol="0" anchor="t">
            <a:normAutofit/>
          </a:bodyPr>
          <a:lstStyle/>
          <a:p>
            <a:pPr algn="l" indent="0" marL="0">
              <a:lnSpc>
                <a:spcPts val="1680"/>
              </a:lnSpc>
              <a:buNone/>
            </a:pPr>
            <a:r>
              <a:rPr lang="en-US" sz="1200" b="1" dirty="0">
                <a:solidFill>
                  <a:srgbClr val="FFFFFF"/>
                </a:solidFill>
                <a:latin typeface="Public Sans" pitchFamily="34" charset="0"/>
                <a:ea typeface="Public Sans" pitchFamily="34" charset="-122"/>
                <a:cs typeface="Public Sans" pitchFamily="34" charset="-120"/>
              </a:rPr>
              <a:t>Overview · four live readings</a:t>
            </a:r>
            <a:endParaRPr lang="en-US" sz="1200" dirty="0"/>
          </a:p>
        </p:txBody>
      </p:sp>
      <p:sp>
        <p:nvSpPr>
          <p:cNvPr id="7" name="Shape 4"/>
          <p:cNvSpPr/>
          <p:nvPr/>
        </p:nvSpPr>
        <p:spPr>
          <a:xfrm>
            <a:off x="4383584" y="1421110"/>
            <a:ext cx="3424783" cy="2006600"/>
          </a:xfrm>
          <a:prstGeom prst="roundRect">
            <a:avLst>
              <a:gd name="adj" fmla="val 1582"/>
            </a:avLst>
          </a:prstGeom>
          <a:noFill/>
          <a:ln w="12700">
            <a:solidFill>
              <a:srgbClr val="1F5A43"/>
            </a:solidFill>
            <a:prstDash val="solid"/>
          </a:ln>
        </p:spPr>
      </p:sp>
      <p:pic>
        <p:nvPicPr>
          <p:cNvPr id="8" name="Image 1" descr="Carbon calculator">    </p:cNvPr>
          <p:cNvPicPr>
            <a:picLocks noChangeAspect="1"/>
          </p:cNvPicPr>
          <p:nvPr/>
        </p:nvPicPr>
        <p:blipFill>
          <a:blip r:embed="rId2"/>
          <a:srcRect l="1990" r="1990" t="0" b="0"/>
          <a:stretch/>
        </p:blipFill>
        <p:spPr>
          <a:xfrm>
            <a:off x="4389934" y="1427460"/>
            <a:ext cx="3403600" cy="1993900"/>
          </a:xfrm>
          <a:custGeom>
            <a:avLst/>
            <a:gdLst/>
            <a:ahLst/>
            <a:cxnLst/>
            <a:rect l="l" t="t" r="r" b="b"/>
            <a:pathLst>
              <a:path w="3403600" h="1993900">
                <a:moveTo>
                  <a:pt x="0" y="25400"/>
                </a:moveTo>
                <a:arcTo wR="25400" hR="25400" stAng="10800000" swAng="5400000"/>
                <a:lnTo>
                  <a:pt x="3403600" y="0"/>
                </a:lnTo>
                <a:lnTo>
                  <a:pt x="3403600" y="1993900"/>
                </a:lnTo>
                <a:lnTo>
                  <a:pt x="25400" y="1993900"/>
                </a:lnTo>
                <a:arcTo wR="25400" hR="25400" stAng="5400000" swAng="5400000"/>
                <a:close/>
              </a:path>
            </a:pathLst>
          </a:custGeom>
        </p:spPr>
      </p:pic>
      <p:sp>
        <p:nvSpPr>
          <p:cNvPr id="9" name="Text 5"/>
          <p:cNvSpPr/>
          <p:nvPr/>
        </p:nvSpPr>
        <p:spPr>
          <a:xfrm>
            <a:off x="4377234" y="3144540"/>
            <a:ext cx="3403600" cy="289520"/>
          </a:xfrm>
          <a:prstGeom prst="rect">
            <a:avLst/>
          </a:prstGeom>
          <a:solidFill>
            <a:srgbClr val="0C3D2C"/>
          </a:solidFill>
          <a:ln/>
        </p:spPr>
        <p:txBody>
          <a:bodyPr wrap="square" lIns="88900" tIns="38100" rIns="0" bIns="12700" rtlCol="0" anchor="t">
            <a:normAutofit/>
          </a:bodyPr>
          <a:lstStyle/>
          <a:p>
            <a:pPr algn="l" indent="0" marL="0">
              <a:lnSpc>
                <a:spcPts val="1680"/>
              </a:lnSpc>
              <a:buNone/>
            </a:pPr>
            <a:r>
              <a:rPr lang="en-US" sz="1200" b="1" dirty="0">
                <a:solidFill>
                  <a:srgbClr val="FFFFFF"/>
                </a:solidFill>
                <a:latin typeface="Public Sans" pitchFamily="34" charset="0"/>
                <a:ea typeface="Public Sans" pitchFamily="34" charset="-122"/>
                <a:cs typeface="Public Sans" pitchFamily="34" charset="-120"/>
              </a:rPr>
              <a:t>Carbon · Scope 1, 2, 3</a:t>
            </a:r>
            <a:endParaRPr lang="en-US" sz="1200" dirty="0"/>
          </a:p>
        </p:txBody>
      </p:sp>
      <p:sp>
        <p:nvSpPr>
          <p:cNvPr id="10" name="Shape 6"/>
          <p:cNvSpPr/>
          <p:nvPr/>
        </p:nvSpPr>
        <p:spPr>
          <a:xfrm>
            <a:off x="7948067" y="1421110"/>
            <a:ext cx="3424734" cy="2006600"/>
          </a:xfrm>
          <a:prstGeom prst="roundRect">
            <a:avLst>
              <a:gd name="adj" fmla="val 1582"/>
            </a:avLst>
          </a:prstGeom>
          <a:noFill/>
          <a:ln w="12700">
            <a:solidFill>
              <a:srgbClr val="1F5A43"/>
            </a:solidFill>
            <a:prstDash val="solid"/>
          </a:ln>
        </p:spPr>
      </p:sp>
      <p:pic>
        <p:nvPicPr>
          <p:cNvPr id="11" name="Image 2" descr="Forest loss sheet">    </p:cNvPr>
          <p:cNvPicPr>
            <a:picLocks noChangeAspect="1"/>
          </p:cNvPicPr>
          <p:nvPr/>
        </p:nvPicPr>
        <p:blipFill>
          <a:blip r:embed="rId3"/>
          <a:srcRect l="1990" r="1990" t="0" b="0"/>
          <a:stretch/>
        </p:blipFill>
        <p:spPr>
          <a:xfrm>
            <a:off x="7954417" y="1427460"/>
            <a:ext cx="3403600" cy="1993900"/>
          </a:xfrm>
          <a:custGeom>
            <a:avLst/>
            <a:gdLst/>
            <a:ahLst/>
            <a:cxnLst/>
            <a:rect l="l" t="t" r="r" b="b"/>
            <a:pathLst>
              <a:path w="3403600" h="1993900">
                <a:moveTo>
                  <a:pt x="0" y="25400"/>
                </a:moveTo>
                <a:arcTo wR="25400" hR="25400" stAng="10800000" swAng="5400000"/>
                <a:lnTo>
                  <a:pt x="3403600" y="0"/>
                </a:lnTo>
                <a:lnTo>
                  <a:pt x="3403600" y="1993900"/>
                </a:lnTo>
                <a:lnTo>
                  <a:pt x="25400" y="1993900"/>
                </a:lnTo>
                <a:arcTo wR="25400" hR="25400" stAng="5400000" swAng="5400000"/>
                <a:close/>
              </a:path>
            </a:pathLst>
          </a:custGeom>
        </p:spPr>
      </p:pic>
      <p:sp>
        <p:nvSpPr>
          <p:cNvPr id="12" name="Text 7"/>
          <p:cNvSpPr/>
          <p:nvPr/>
        </p:nvSpPr>
        <p:spPr>
          <a:xfrm>
            <a:off x="7941717" y="3144540"/>
            <a:ext cx="3403600" cy="289520"/>
          </a:xfrm>
          <a:prstGeom prst="rect">
            <a:avLst/>
          </a:prstGeom>
          <a:solidFill>
            <a:srgbClr val="0C3D2C"/>
          </a:solidFill>
          <a:ln/>
        </p:spPr>
        <p:txBody>
          <a:bodyPr wrap="square" lIns="88900" tIns="38100" rIns="0" bIns="12700" rtlCol="0" anchor="t">
            <a:normAutofit/>
          </a:bodyPr>
          <a:lstStyle/>
          <a:p>
            <a:pPr algn="l" indent="0" marL="0">
              <a:lnSpc>
                <a:spcPts val="1680"/>
              </a:lnSpc>
              <a:buNone/>
            </a:pPr>
            <a:r>
              <a:rPr lang="en-US" sz="1200" b="1" dirty="0">
                <a:solidFill>
                  <a:srgbClr val="FFFFFF"/>
                </a:solidFill>
                <a:latin typeface="Public Sans" pitchFamily="34" charset="0"/>
                <a:ea typeface="Public Sans" pitchFamily="34" charset="-122"/>
                <a:cs typeface="Public Sans" pitchFamily="34" charset="-120"/>
              </a:rPr>
              <a:t>Earth · forest loss</a:t>
            </a:r>
            <a:endParaRPr lang="en-US" sz="1200" dirty="0"/>
          </a:p>
        </p:txBody>
      </p:sp>
      <p:sp>
        <p:nvSpPr>
          <p:cNvPr id="13" name="Shape 8"/>
          <p:cNvSpPr/>
          <p:nvPr/>
        </p:nvSpPr>
        <p:spPr>
          <a:xfrm>
            <a:off x="819150" y="3567410"/>
            <a:ext cx="3424734" cy="2006600"/>
          </a:xfrm>
          <a:prstGeom prst="roundRect">
            <a:avLst>
              <a:gd name="adj" fmla="val 1582"/>
            </a:avLst>
          </a:prstGeom>
          <a:noFill/>
          <a:ln w="12700">
            <a:solidFill>
              <a:srgbClr val="1F5A43"/>
            </a:solidFill>
            <a:prstDash val="solid"/>
          </a:ln>
        </p:spPr>
      </p:sp>
      <p:pic>
        <p:nvPicPr>
          <p:cNvPr id="14" name="Image 3" descr="Lake water sheet">    </p:cNvPr>
          <p:cNvPicPr>
            <a:picLocks noChangeAspect="1"/>
          </p:cNvPicPr>
          <p:nvPr/>
        </p:nvPicPr>
        <p:blipFill>
          <a:blip r:embed="rId4"/>
          <a:srcRect l="1990" r="1990" t="0" b="0"/>
          <a:stretch/>
        </p:blipFill>
        <p:spPr>
          <a:xfrm>
            <a:off x="825500" y="3573760"/>
            <a:ext cx="3403600" cy="1993900"/>
          </a:xfrm>
          <a:custGeom>
            <a:avLst/>
            <a:gdLst/>
            <a:ahLst/>
            <a:cxnLst/>
            <a:rect l="l" t="t" r="r" b="b"/>
            <a:pathLst>
              <a:path w="3403600" h="1993900">
                <a:moveTo>
                  <a:pt x="0" y="25400"/>
                </a:moveTo>
                <a:arcTo wR="25400" hR="25400" stAng="10800000" swAng="5400000"/>
                <a:lnTo>
                  <a:pt x="3403600" y="0"/>
                </a:lnTo>
                <a:lnTo>
                  <a:pt x="3403600" y="1993900"/>
                </a:lnTo>
                <a:lnTo>
                  <a:pt x="25400" y="1993900"/>
                </a:lnTo>
                <a:arcTo wR="25400" hR="25400" stAng="5400000" swAng="5400000"/>
                <a:close/>
              </a:path>
            </a:pathLst>
          </a:custGeom>
        </p:spPr>
      </p:pic>
      <p:sp>
        <p:nvSpPr>
          <p:cNvPr id="15" name="Text 9"/>
          <p:cNvSpPr/>
          <p:nvPr/>
        </p:nvSpPr>
        <p:spPr>
          <a:xfrm>
            <a:off x="812800" y="5290840"/>
            <a:ext cx="3403600" cy="289520"/>
          </a:xfrm>
          <a:prstGeom prst="rect">
            <a:avLst/>
          </a:prstGeom>
          <a:solidFill>
            <a:srgbClr val="0C3D2C"/>
          </a:solidFill>
          <a:ln/>
        </p:spPr>
        <p:txBody>
          <a:bodyPr wrap="square" lIns="88900" tIns="38100" rIns="0" bIns="12700" rtlCol="0" anchor="t">
            <a:normAutofit/>
          </a:bodyPr>
          <a:lstStyle/>
          <a:p>
            <a:pPr algn="l" indent="0" marL="0">
              <a:lnSpc>
                <a:spcPts val="1680"/>
              </a:lnSpc>
              <a:buNone/>
            </a:pPr>
            <a:r>
              <a:rPr lang="en-US" sz="1200" b="1" dirty="0">
                <a:solidFill>
                  <a:srgbClr val="FFFFFF"/>
                </a:solidFill>
                <a:latin typeface="Public Sans" pitchFamily="34" charset="0"/>
                <a:ea typeface="Public Sans" pitchFamily="34" charset="-122"/>
                <a:cs typeface="Public Sans" pitchFamily="34" charset="-120"/>
              </a:rPr>
              <a:t>Earth · lake water</a:t>
            </a:r>
            <a:endParaRPr lang="en-US" sz="1200" dirty="0"/>
          </a:p>
        </p:txBody>
      </p:sp>
      <p:sp>
        <p:nvSpPr>
          <p:cNvPr id="16" name="Shape 10"/>
          <p:cNvSpPr/>
          <p:nvPr/>
        </p:nvSpPr>
        <p:spPr>
          <a:xfrm>
            <a:off x="4383584" y="3567410"/>
            <a:ext cx="3424783" cy="2006600"/>
          </a:xfrm>
          <a:prstGeom prst="roundRect">
            <a:avLst>
              <a:gd name="adj" fmla="val 1582"/>
            </a:avLst>
          </a:prstGeom>
          <a:noFill/>
          <a:ln w="12700">
            <a:solidFill>
              <a:srgbClr val="1F5A43"/>
            </a:solidFill>
            <a:prstDash val="solid"/>
          </a:ln>
        </p:spPr>
      </p:sp>
      <p:pic>
        <p:nvPicPr>
          <p:cNvPr id="17" name="Image 4" descr="Micro-grid dispatch sheet">    </p:cNvPr>
          <p:cNvPicPr>
            <a:picLocks noChangeAspect="1"/>
          </p:cNvPicPr>
          <p:nvPr/>
        </p:nvPicPr>
        <p:blipFill>
          <a:blip r:embed="rId5"/>
          <a:srcRect l="1990" r="1990" t="0" b="0"/>
          <a:stretch/>
        </p:blipFill>
        <p:spPr>
          <a:xfrm>
            <a:off x="4389934" y="3573760"/>
            <a:ext cx="3403600" cy="1993900"/>
          </a:xfrm>
          <a:custGeom>
            <a:avLst/>
            <a:gdLst/>
            <a:ahLst/>
            <a:cxnLst/>
            <a:rect l="l" t="t" r="r" b="b"/>
            <a:pathLst>
              <a:path w="3403600" h="1993900">
                <a:moveTo>
                  <a:pt x="0" y="25400"/>
                </a:moveTo>
                <a:arcTo wR="25400" hR="25400" stAng="10800000" swAng="5400000"/>
                <a:lnTo>
                  <a:pt x="3403600" y="0"/>
                </a:lnTo>
                <a:lnTo>
                  <a:pt x="3403600" y="1993900"/>
                </a:lnTo>
                <a:lnTo>
                  <a:pt x="25400" y="1993900"/>
                </a:lnTo>
                <a:arcTo wR="25400" hR="25400" stAng="5400000" swAng="5400000"/>
                <a:close/>
              </a:path>
            </a:pathLst>
          </a:custGeom>
        </p:spPr>
      </p:pic>
      <p:sp>
        <p:nvSpPr>
          <p:cNvPr id="18" name="Text 11"/>
          <p:cNvSpPr/>
          <p:nvPr/>
        </p:nvSpPr>
        <p:spPr>
          <a:xfrm>
            <a:off x="4377234" y="5290840"/>
            <a:ext cx="3403600" cy="289520"/>
          </a:xfrm>
          <a:prstGeom prst="rect">
            <a:avLst/>
          </a:prstGeom>
          <a:solidFill>
            <a:srgbClr val="0C3D2C"/>
          </a:solidFill>
          <a:ln/>
        </p:spPr>
        <p:txBody>
          <a:bodyPr wrap="square" lIns="88900" tIns="38100" rIns="0" bIns="12700" rtlCol="0" anchor="t">
            <a:normAutofit/>
          </a:bodyPr>
          <a:lstStyle/>
          <a:p>
            <a:pPr algn="l" indent="0" marL="0">
              <a:lnSpc>
                <a:spcPts val="1680"/>
              </a:lnSpc>
              <a:buNone/>
            </a:pPr>
            <a:r>
              <a:rPr lang="en-US" sz="1200" b="1" dirty="0">
                <a:solidFill>
                  <a:srgbClr val="FFFFFF"/>
                </a:solidFill>
                <a:latin typeface="Public Sans" pitchFamily="34" charset="0"/>
                <a:ea typeface="Public Sans" pitchFamily="34" charset="-122"/>
                <a:cs typeface="Public Sans" pitchFamily="34" charset="-120"/>
              </a:rPr>
              <a:t>Plan · micro-grid dispatch</a:t>
            </a:r>
            <a:endParaRPr lang="en-US" sz="1200" dirty="0"/>
          </a:p>
        </p:txBody>
      </p:sp>
      <p:sp>
        <p:nvSpPr>
          <p:cNvPr id="19" name="Shape 12"/>
          <p:cNvSpPr/>
          <p:nvPr/>
        </p:nvSpPr>
        <p:spPr>
          <a:xfrm>
            <a:off x="7948067" y="3567410"/>
            <a:ext cx="3424734" cy="2006600"/>
          </a:xfrm>
          <a:prstGeom prst="roundRect">
            <a:avLst>
              <a:gd name="adj" fmla="val 1582"/>
            </a:avLst>
          </a:prstGeom>
          <a:noFill/>
          <a:ln w="12700">
            <a:solidFill>
              <a:srgbClr val="1F5A43"/>
            </a:solidFill>
            <a:prstDash val="solid"/>
          </a:ln>
        </p:spPr>
      </p:sp>
      <p:pic>
        <p:nvPicPr>
          <p:cNvPr id="20" name="Image 5" descr="Air forecast sheet">    </p:cNvPr>
          <p:cNvPicPr>
            <a:picLocks noChangeAspect="1"/>
          </p:cNvPicPr>
          <p:nvPr/>
        </p:nvPicPr>
        <p:blipFill>
          <a:blip r:embed="rId6"/>
          <a:srcRect l="1990" r="1990" t="0" b="0"/>
          <a:stretch/>
        </p:blipFill>
        <p:spPr>
          <a:xfrm>
            <a:off x="7954417" y="3573760"/>
            <a:ext cx="3403600" cy="1993900"/>
          </a:xfrm>
          <a:custGeom>
            <a:avLst/>
            <a:gdLst/>
            <a:ahLst/>
            <a:cxnLst/>
            <a:rect l="l" t="t" r="r" b="b"/>
            <a:pathLst>
              <a:path w="3403600" h="1993900">
                <a:moveTo>
                  <a:pt x="0" y="25400"/>
                </a:moveTo>
                <a:arcTo wR="25400" hR="25400" stAng="10800000" swAng="5400000"/>
                <a:lnTo>
                  <a:pt x="3403600" y="0"/>
                </a:lnTo>
                <a:lnTo>
                  <a:pt x="3403600" y="1993900"/>
                </a:lnTo>
                <a:lnTo>
                  <a:pt x="25400" y="1993900"/>
                </a:lnTo>
                <a:arcTo wR="25400" hR="25400" stAng="5400000" swAng="5400000"/>
                <a:close/>
              </a:path>
            </a:pathLst>
          </a:custGeom>
        </p:spPr>
      </p:pic>
      <p:sp>
        <p:nvSpPr>
          <p:cNvPr id="21" name="Text 13"/>
          <p:cNvSpPr/>
          <p:nvPr/>
        </p:nvSpPr>
        <p:spPr>
          <a:xfrm>
            <a:off x="7941717" y="5290840"/>
            <a:ext cx="3403600" cy="289520"/>
          </a:xfrm>
          <a:prstGeom prst="rect">
            <a:avLst/>
          </a:prstGeom>
          <a:solidFill>
            <a:srgbClr val="0C3D2C"/>
          </a:solidFill>
          <a:ln/>
        </p:spPr>
        <p:txBody>
          <a:bodyPr wrap="square" lIns="88900" tIns="38100" rIns="0" bIns="12700" rtlCol="0" anchor="t">
            <a:normAutofit/>
          </a:bodyPr>
          <a:lstStyle/>
          <a:p>
            <a:pPr algn="l" indent="0" marL="0">
              <a:lnSpc>
                <a:spcPts val="1680"/>
              </a:lnSpc>
              <a:buNone/>
            </a:pPr>
            <a:r>
              <a:rPr lang="en-US" sz="1200" b="1" dirty="0">
                <a:solidFill>
                  <a:srgbClr val="FFFFFF"/>
                </a:solidFill>
                <a:latin typeface="Public Sans" pitchFamily="34" charset="0"/>
                <a:ea typeface="Public Sans" pitchFamily="34" charset="-122"/>
                <a:cs typeface="Public Sans" pitchFamily="34" charset="-120"/>
              </a:rPr>
              <a:t>Air · CO₂ forecast</a:t>
            </a:r>
            <a:endParaRPr lang="en-US" sz="1200" dirty="0"/>
          </a:p>
        </p:txBody>
      </p:sp>
      <p:sp>
        <p:nvSpPr>
          <p:cNvPr id="22"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C9B2"/>
                </a:solidFill>
                <a:latin typeface="Public Sans" pitchFamily="34" charset="0"/>
                <a:ea typeface="Public Sans" pitchFamily="34" charset="-122"/>
                <a:cs typeface="Public Sans" pitchFamily="34" charset="-120"/>
              </a:rPr>
              <a:t>Captured from the deployed build: polaris-web-production-bb75.up.railway.app</a:t>
            </a:r>
            <a:endParaRPr lang="en-US" sz="1200" dirty="0"/>
          </a:p>
        </p:txBody>
      </p:sp>
      <p:sp>
        <p:nvSpPr>
          <p:cNvPr id="23" name="Text 15"/>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C9B2"/>
                </a:solidFill>
                <a:latin typeface="Public Sans" pitchFamily="34" charset="0"/>
                <a:ea typeface="Public Sans" pitchFamily="34" charset="-122"/>
                <a:cs typeface="Public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5A38B4"/>
                </a:solidFill>
                <a:latin typeface="JetBrains Mono" pitchFamily="49" charset="0"/>
                <a:ea typeface="JetBrains Mono" pitchFamily="49" charset="-122"/>
                <a:cs typeface="JetBrains Mono" pitchFamily="49" charset="-120"/>
              </a:rPr>
              <a:t>MODELS, DATASETS AND EQUATIONS · ONE PAGE</a:t>
            </a:r>
            <a:endParaRPr lang="en-US" sz="1300" dirty="0"/>
          </a:p>
        </p:txBody>
      </p:sp>
      <p:sp>
        <p:nvSpPr>
          <p:cNvPr id="3" name="Text 1"/>
          <p:cNvSpPr/>
          <p:nvPr>
            <p:ph type="title"/>
          </p:nvPr>
        </p:nvSpPr>
        <p:spPr>
          <a:xfrm>
            <a:off x="812800" y="980430"/>
            <a:ext cx="10883392" cy="345430"/>
          </a:xfrm>
          <a:prstGeom prst="rect">
            <a:avLst/>
          </a:prstGeom>
          <a:noFill/>
          <a:ln/>
        </p:spPr>
        <p:txBody>
          <a:bodyPr wrap="square" lIns="0" tIns="0" rIns="0" bIns="0" rtlCol="0" anchor="t">
            <a:normAutofit/>
          </a:bodyPr>
          <a:lstStyle/>
          <a:p>
            <a:pPr algn="l" indent="0" marL="0">
              <a:lnSpc>
                <a:spcPts val="2520"/>
              </a:lnSpc>
              <a:buNone/>
            </a:pPr>
            <a:r>
              <a:rPr lang="en-US" sz="2400" b="1" i="0" spc="-100" kern="0" dirty="0">
                <a:solidFill>
                  <a:srgbClr val="0C2E22"/>
                </a:solidFill>
                <a:latin typeface="Archivo" pitchFamily="34" charset="0"/>
                <a:ea typeface="Archivo" pitchFamily="34" charset="-122"/>
                <a:cs typeface="Archivo" pitchFamily="34" charset="-120"/>
              </a:rPr>
              <a:t>Everything the project learns from and computes with.</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0160"/>
          <a:ext cx="10553700" cy="2303363"/>
        </p:xfrm>
        <a:graphic>
          <a:graphicData uri="http://schemas.openxmlformats.org/drawingml/2006/table">
            <a:tbl>
              <a:tblPr/>
              <a:tblGrid>
                <a:gridCol w="1266444"/>
                <a:gridCol w="3166110"/>
                <a:gridCol w="3166110"/>
                <a:gridCol w="2955036"/>
              </a:tblGrid>
              <a:tr h="332680">
                <a:tc>
                  <a:txBody>
                    <a:bodyPr/>
                    <a:lstStyle/>
                    <a:p>
                      <a:pPr indent="0" marL="0">
                        <a:lnSpc>
                          <a:spcPts val="1680"/>
                        </a:lnSpc>
                        <a:buNone/>
                      </a:pPr>
                      <a:r>
                        <a:rPr lang="en-US" sz="1200" b="1" dirty="0">
                          <a:solidFill>
                            <a:srgbClr val="0C2E22"/>
                          </a:solidFill>
                          <a:latin typeface="Public Sans" pitchFamily="34" charset="0"/>
                          <a:ea typeface="Public Sans" pitchFamily="34" charset="-122"/>
                          <a:cs typeface="Public Sans" pitchFamily="34" charset="-120"/>
                        </a:rPr>
                        <a:t>Engine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0C2E22"/>
                          </a:solidFill>
                          <a:latin typeface="Public Sans" pitchFamily="34" charset="0"/>
                          <a:ea typeface="Public Sans" pitchFamily="34" charset="-122"/>
                          <a:cs typeface="Public Sans" pitchFamily="34" charset="-120"/>
                        </a:rPr>
                        <a:t>Models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0C2E22"/>
                          </a:solidFill>
                          <a:latin typeface="Public Sans" pitchFamily="34" charset="0"/>
                          <a:ea typeface="Public Sans" pitchFamily="34" charset="-122"/>
                          <a:cs typeface="Public Sans" pitchFamily="34" charset="-120"/>
                        </a:rPr>
                        <a:t>Datasets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680"/>
                        </a:lnSpc>
                        <a:buNone/>
                      </a:pPr>
                      <a:r>
                        <a:rPr lang="en-US" sz="1200" b="1" dirty="0">
                          <a:solidFill>
                            <a:srgbClr val="0C2E22"/>
                          </a:solidFill>
                          <a:latin typeface="Public Sans" pitchFamily="34" charset="0"/>
                          <a:ea typeface="Public Sans" pitchFamily="34" charset="-122"/>
                          <a:cs typeface="Public Sans" pitchFamily="34" charset="-120"/>
                        </a:rPr>
                        <a:t>Held-out result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46001">
                <a:tc>
                  <a:txBody>
                    <a:bodyPr/>
                    <a:lstStyle/>
                    <a:p>
                      <a:pPr indent="0" marL="0">
                        <a:lnSpc>
                          <a:spcPts val="1680"/>
                        </a:lnSpc>
                        <a:buNone/>
                      </a:pPr>
                      <a:r>
                        <a:rPr lang="en-US" sz="1200" dirty="0">
                          <a:solidFill>
                            <a:srgbClr val="C4480E"/>
                          </a:solidFill>
                          <a:latin typeface="Public Sans" pitchFamily="34" charset="0"/>
                          <a:ea typeface="Public Sans" pitchFamily="34" charset="-122"/>
                          <a:cs typeface="Public Sans" pitchFamily="34" charset="-120"/>
                        </a:rPr>
                        <a:t>Carbon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Ridge (chosen), LightGBM, XGBoost, forest; conformal 90%; MILP</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CEA v22, EPA USEEIO v1.3, ERA5; synthetic company panel</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R² 0.966 (S1), 0.925 (S2)</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0E7A4F"/>
                          </a:solidFill>
                          <a:latin typeface="Public Sans" pitchFamily="34" charset="0"/>
                          <a:ea typeface="Public Sans" pitchFamily="34" charset="-122"/>
                          <a:cs typeface="Public Sans" pitchFamily="34" charset="-120"/>
                        </a:rPr>
                        <a:t>Earth</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Random forest (160 trees), NDVI rule, U-Net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Sentinel-2 L2A, Hansen GFC 2024 v1.12</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F1 0.802 vs 0.742</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5A38B4"/>
                          </a:solidFill>
                          <a:latin typeface="Public Sans" pitchFamily="34" charset="0"/>
                          <a:ea typeface="Public Sans" pitchFamily="34" charset="-122"/>
                          <a:cs typeface="Public Sans" pitchFamily="34" charset="-120"/>
                        </a:rPr>
                        <a:t>Micro-grid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XGBoost ×3, Pyomo with HiGHS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Seeded demo day; PVGIS, Open-Meteo loaders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MAE 11.6, 3.4, 23.5 kW</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D52C7"/>
                          </a:solidFill>
                          <a:latin typeface="Public Sans" pitchFamily="34" charset="0"/>
                          <a:ea typeface="Public Sans" pitchFamily="34" charset="-122"/>
                          <a:cs typeface="Public Sans" pitchFamily="34" charset="-120"/>
                        </a:rPr>
                        <a:t>Air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Seasonal Ridge, Lag Ridge, forest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NOAA CarbonTracker CT2026</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0C2E22"/>
                          </a:solidFill>
                          <a:latin typeface="Public Sans" pitchFamily="34" charset="0"/>
                          <a:ea typeface="Public Sans" pitchFamily="34" charset="-122"/>
                          <a:cs typeface="Public Sans" pitchFamily="34" charset="-120"/>
                        </a:rPr>
                        <a:t>Noida +15.5%, Ahmedabad −52.3%</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Shape 2"/>
          <p:cNvSpPr/>
          <p:nvPr/>
        </p:nvSpPr>
        <p:spPr>
          <a:xfrm>
            <a:off x="831850" y="3870523"/>
            <a:ext cx="0" cy="624780"/>
          </a:xfrm>
          <a:prstGeom prst="line">
            <a:avLst/>
          </a:prstGeom>
          <a:noFill/>
          <a:ln w="38100">
            <a:solidFill>
              <a:srgbClr val="C4480E"/>
            </a:solidFill>
            <a:prstDash val="solid"/>
          </a:ln>
        </p:spPr>
      </p:sp>
      <p:sp>
        <p:nvSpPr>
          <p:cNvPr id="6" name="Text 3"/>
          <p:cNvSpPr/>
          <p:nvPr/>
        </p:nvSpPr>
        <p:spPr>
          <a:xfrm>
            <a:off x="939800" y="3870523"/>
            <a:ext cx="251155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C2E22"/>
                </a:solidFill>
                <a:latin typeface="JetBrains Mono" pitchFamily="49" charset="0"/>
                <a:ea typeface="JetBrains Mono" pitchFamily="49" charset="-122"/>
                <a:cs typeface="JetBrains Mono" pitchFamily="49" charset="-120"/>
              </a:rPr>
              <a:t>E2 = kWh/(1−L) · EF</a:t>
            </a:r>
            <a:endParaRPr lang="en-US" sz="1200" dirty="0"/>
          </a:p>
        </p:txBody>
      </p:sp>
      <p:sp>
        <p:nvSpPr>
          <p:cNvPr id="7" name="Text 4"/>
          <p:cNvSpPr/>
          <p:nvPr/>
        </p:nvSpPr>
        <p:spPr>
          <a:xfrm>
            <a:off x="939800" y="4076254"/>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Scope 2, with T&amp;D loss</a:t>
            </a:r>
            <a:endParaRPr lang="en-US" sz="1200" dirty="0"/>
          </a:p>
        </p:txBody>
      </p:sp>
      <p:sp>
        <p:nvSpPr>
          <p:cNvPr id="8" name="Shape 5"/>
          <p:cNvSpPr/>
          <p:nvPr/>
        </p:nvSpPr>
        <p:spPr>
          <a:xfrm>
            <a:off x="3498850" y="3870523"/>
            <a:ext cx="0" cy="624780"/>
          </a:xfrm>
          <a:prstGeom prst="line">
            <a:avLst/>
          </a:prstGeom>
          <a:noFill/>
          <a:ln w="38100">
            <a:solidFill>
              <a:srgbClr val="0E7A4F"/>
            </a:solidFill>
            <a:prstDash val="solid"/>
          </a:ln>
        </p:spPr>
      </p:sp>
      <p:sp>
        <p:nvSpPr>
          <p:cNvPr id="9" name="Text 6"/>
          <p:cNvSpPr/>
          <p:nvPr/>
        </p:nvSpPr>
        <p:spPr>
          <a:xfrm>
            <a:off x="3606800" y="3870523"/>
            <a:ext cx="251155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C2E22"/>
                </a:solidFill>
                <a:latin typeface="JetBrains Mono" pitchFamily="49" charset="0"/>
                <a:ea typeface="JetBrains Mono" pitchFamily="49" charset="-122"/>
                <a:cs typeface="JetBrains Mono" pitchFamily="49" charset="-120"/>
              </a:rPr>
              <a:t>NDVI = (N−R)/(N+R)</a:t>
            </a:r>
            <a:endParaRPr lang="en-US" sz="1200" dirty="0"/>
          </a:p>
        </p:txBody>
      </p:sp>
      <p:sp>
        <p:nvSpPr>
          <p:cNvPr id="10" name="Text 7"/>
          <p:cNvSpPr/>
          <p:nvPr/>
        </p:nvSpPr>
        <p:spPr>
          <a:xfrm>
            <a:off x="3606800" y="4076254"/>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plus NBR, NDMI, MNDWI</a:t>
            </a:r>
            <a:endParaRPr lang="en-US" sz="1200" dirty="0"/>
          </a:p>
        </p:txBody>
      </p:sp>
      <p:sp>
        <p:nvSpPr>
          <p:cNvPr id="11" name="Shape 8"/>
          <p:cNvSpPr/>
          <p:nvPr/>
        </p:nvSpPr>
        <p:spPr>
          <a:xfrm>
            <a:off x="6165850" y="3870523"/>
            <a:ext cx="0" cy="624780"/>
          </a:xfrm>
          <a:prstGeom prst="line">
            <a:avLst/>
          </a:prstGeom>
          <a:noFill/>
          <a:ln w="38100">
            <a:solidFill>
              <a:srgbClr val="5A38B4"/>
            </a:solidFill>
            <a:prstDash val="solid"/>
          </a:ln>
        </p:spPr>
      </p:sp>
      <p:sp>
        <p:nvSpPr>
          <p:cNvPr id="12" name="Text 9"/>
          <p:cNvSpPr/>
          <p:nvPr/>
        </p:nvSpPr>
        <p:spPr>
          <a:xfrm>
            <a:off x="6273800" y="3870523"/>
            <a:ext cx="2511552"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C2E22"/>
                </a:solidFill>
                <a:latin typeface="JetBrains Mono" pitchFamily="49" charset="0"/>
                <a:ea typeface="JetBrains Mono" pitchFamily="49" charset="-122"/>
                <a:cs typeface="JetBrains Mono" pitchFamily="49" charset="-120"/>
              </a:rPr>
              <a:t>SOC′ = SOC + ηc·c/E − d/(ηd·E)</a:t>
            </a:r>
            <a:endParaRPr lang="en-US" sz="1200" dirty="0"/>
          </a:p>
        </p:txBody>
      </p:sp>
      <p:sp>
        <p:nvSpPr>
          <p:cNvPr id="13" name="Text 10"/>
          <p:cNvSpPr/>
          <p:nvPr/>
        </p:nvSpPr>
        <p:spPr>
          <a:xfrm>
            <a:off x="6273800" y="4281984"/>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battery state of charge</a:t>
            </a:r>
            <a:endParaRPr lang="en-US" sz="1200" dirty="0"/>
          </a:p>
        </p:txBody>
      </p:sp>
      <p:sp>
        <p:nvSpPr>
          <p:cNvPr id="14" name="Shape 11"/>
          <p:cNvSpPr/>
          <p:nvPr/>
        </p:nvSpPr>
        <p:spPr>
          <a:xfrm>
            <a:off x="8832850" y="3870523"/>
            <a:ext cx="0" cy="624780"/>
          </a:xfrm>
          <a:prstGeom prst="line">
            <a:avLst/>
          </a:prstGeom>
          <a:noFill/>
          <a:ln w="38100">
            <a:solidFill>
              <a:srgbClr val="1D52C7"/>
            </a:solidFill>
            <a:prstDash val="solid"/>
          </a:ln>
        </p:spPr>
      </p:sp>
      <p:sp>
        <p:nvSpPr>
          <p:cNvPr id="15" name="Text 12"/>
          <p:cNvSpPr/>
          <p:nvPr/>
        </p:nvSpPr>
        <p:spPr>
          <a:xfrm>
            <a:off x="8940800" y="3870523"/>
            <a:ext cx="251155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0C2E22"/>
                </a:solidFill>
                <a:latin typeface="JetBrains Mono" pitchFamily="49" charset="0"/>
                <a:ea typeface="JetBrains Mono" pitchFamily="49" charset="-122"/>
                <a:cs typeface="JetBrains Mono" pitchFamily="49" charset="-120"/>
              </a:rPr>
              <a:t>skill = 1 − MAE/MAEpers</a:t>
            </a:r>
            <a:endParaRPr lang="en-US" sz="1200" dirty="0"/>
          </a:p>
        </p:txBody>
      </p:sp>
      <p:sp>
        <p:nvSpPr>
          <p:cNvPr id="16" name="Text 13"/>
          <p:cNvSpPr/>
          <p:nvPr/>
        </p:nvSpPr>
        <p:spPr>
          <a:xfrm>
            <a:off x="8940800" y="4076254"/>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verdict against persistence</a:t>
            </a:r>
            <a:endParaRPr lang="en-US" sz="1200" dirty="0"/>
          </a:p>
        </p:txBody>
      </p:sp>
      <p:sp>
        <p:nvSpPr>
          <p:cNvPr id="17" name="Text 14"/>
          <p:cNvSpPr/>
          <p:nvPr/>
        </p:nvSpPr>
        <p:spPr>
          <a:xfrm>
            <a:off x="812800" y="4622304"/>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800"/>
                </a:solidFill>
                <a:latin typeface="Public Sans" pitchFamily="34" charset="0"/>
                <a:ea typeface="Public Sans" pitchFamily="34" charset="-122"/>
                <a:cs typeface="Public Sans" pitchFamily="34" charset="-120"/>
              </a:rPr>
              <a:t>Synthetic: the carbon gap-filler and the micro-grid day. Real: satellite imagery and atmospheric records.</a:t>
            </a:r>
            <a:endParaRPr lang="en-US" sz="1200" dirty="0"/>
          </a:p>
        </p:txBody>
      </p:sp>
      <p:sp>
        <p:nvSpPr>
          <p:cNvPr id="18" name="Text 1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Scores are on data held out from training; choice of model never touches the holdout</a:t>
            </a:r>
            <a:endParaRPr lang="en-US" sz="1200" dirty="0"/>
          </a:p>
        </p:txBody>
      </p:sp>
      <p:sp>
        <p:nvSpPr>
          <p:cNvPr id="19" name="Text 16"/>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7F3"/>
        </a:solidFill>
      </p:bgPr>
    </p:bg>
    <p:spTree>
      <p:nvGrpSpPr>
        <p:cNvPr id="1" name=""/>
        <p:cNvGrpSpPr/>
        <p:nvPr/>
      </p:nvGrpSpPr>
      <p:grpSpPr>
        <a:xfrm>
          <a:off x="0" y="0"/>
          <a:ext cx="0" cy="0"/>
          <a:chOff x="0" y="0"/>
          <a:chExt cx="0" cy="0"/>
        </a:xfrm>
      </p:grpSpPr>
      <p:sp>
        <p:nvSpPr>
          <p:cNvPr id="2" name="Text 0"/>
          <p:cNvSpPr/>
          <p:nvPr/>
        </p:nvSpPr>
        <p:spPr>
          <a:xfrm>
            <a:off x="812800" y="7112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spc="200" kern="0" dirty="0">
                <a:solidFill>
                  <a:srgbClr val="0B6B45"/>
                </a:solidFill>
                <a:latin typeface="JetBrains Mono" pitchFamily="49" charset="0"/>
                <a:ea typeface="JetBrains Mono" pitchFamily="49" charset="-122"/>
                <a:cs typeface="JetBrains Mono" pitchFamily="49" charset="-120"/>
              </a:rPr>
              <a:t>CRITERIA 2, 3 AND 4 · FEASIBILITY, IMPACT, ROADMAP</a:t>
            </a:r>
            <a:endParaRPr lang="en-US" sz="1300" dirty="0"/>
          </a:p>
        </p:txBody>
      </p:sp>
      <p:sp>
        <p:nvSpPr>
          <p:cNvPr id="3" name="Text 1"/>
          <p:cNvSpPr/>
          <p:nvPr>
            <p:ph type="title"/>
          </p:nvPr>
        </p:nvSpPr>
        <p:spPr>
          <a:xfrm>
            <a:off x="812800" y="980430"/>
            <a:ext cx="10883392" cy="358775"/>
          </a:xfrm>
          <a:prstGeom prst="rect">
            <a:avLst/>
          </a:prstGeom>
          <a:noFill/>
          <a:ln/>
        </p:spPr>
        <p:txBody>
          <a:bodyPr wrap="square" lIns="0" tIns="0" rIns="0" bIns="0" rtlCol="0" anchor="t">
            <a:normAutofit/>
          </a:bodyPr>
          <a:lstStyle/>
          <a:p>
            <a:pPr algn="l" indent="0" marL="0">
              <a:lnSpc>
                <a:spcPts val="2625"/>
              </a:lnSpc>
              <a:buNone/>
            </a:pPr>
            <a:r>
              <a:rPr lang="en-US" sz="2500" b="1" i="0" spc="-100" kern="0" dirty="0">
                <a:solidFill>
                  <a:srgbClr val="0C2E22"/>
                </a:solidFill>
                <a:latin typeface="Archivo" pitchFamily="34" charset="0"/>
                <a:ea typeface="Archivo" pitchFamily="34" charset="-122"/>
                <a:cs typeface="Archivo" pitchFamily="34" charset="-120"/>
              </a:rPr>
              <a:t>Built, measured, and a path to scale.</a:t>
            </a:r>
            <a:endParaRPr lang="en-US" sz="2500" dirty="0"/>
          </a:p>
        </p:txBody>
      </p:sp>
      <p:sp>
        <p:nvSpPr>
          <p:cNvPr id="4" name="Shape 2"/>
          <p:cNvSpPr/>
          <p:nvPr/>
        </p:nvSpPr>
        <p:spPr>
          <a:xfrm>
            <a:off x="815975" y="1443980"/>
            <a:ext cx="5213350" cy="1438771"/>
          </a:xfrm>
          <a:prstGeom prst="roundRect">
            <a:avLst>
              <a:gd name="adj" fmla="val 2427"/>
            </a:avLst>
          </a:prstGeom>
          <a:solidFill>
            <a:srgbClr val="FFFFFF"/>
          </a:solidFill>
          <a:ln w="6350">
            <a:solidFill>
              <a:srgbClr val="C9DCCF"/>
            </a:solidFill>
            <a:prstDash val="solid"/>
          </a:ln>
        </p:spPr>
      </p:sp>
      <p:sp>
        <p:nvSpPr>
          <p:cNvPr id="5" name="Text 3"/>
          <p:cNvSpPr/>
          <p:nvPr/>
        </p:nvSpPr>
        <p:spPr>
          <a:xfrm>
            <a:off x="971550" y="1574155"/>
            <a:ext cx="504926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52C7"/>
                </a:solidFill>
                <a:latin typeface="Archivo" pitchFamily="34" charset="0"/>
                <a:ea typeface="Archivo" pitchFamily="34" charset="-122"/>
                <a:cs typeface="Archivo" pitchFamily="34" charset="-120"/>
              </a:rPr>
              <a:t>Technical feasibility</a:t>
            </a:r>
            <a:endParaRPr lang="en-US" sz="1600" dirty="0"/>
          </a:p>
        </p:txBody>
      </p:sp>
      <p:sp>
        <p:nvSpPr>
          <p:cNvPr id="6" name="Text 4"/>
          <p:cNvSpPr/>
          <p:nvPr/>
        </p:nvSpPr>
        <p:spPr>
          <a:xfrm>
            <a:off x="971550" y="1909415"/>
            <a:ext cx="5049266"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218</a:t>
            </a:r>
            <a:r>
              <a:rPr lang="en-US" sz="1200" dirty="0">
                <a:solidFill>
                  <a:srgbClr val="0C2E22"/>
                </a:solidFill>
                <a:latin typeface="Public Sans" pitchFamily="34" charset="0"/>
                <a:ea typeface="Public Sans" pitchFamily="34" charset="-122"/>
                <a:cs typeface="Public Sans" pitchFamily="34" charset="-120"/>
              </a:rPr>
              <a:t> Python tests across four engines and the bridge, </a:t>
            </a:r>
            <a:r>
              <a:rPr lang="en-US" sz="1200" b="1" dirty="0">
                <a:solidFill>
                  <a:srgbClr val="0C2E22"/>
                </a:solidFill>
                <a:latin typeface="Public Sans" pitchFamily="34" charset="0"/>
                <a:ea typeface="Public Sans" pitchFamily="34" charset="-122"/>
                <a:cs typeface="Public Sans" pitchFamily="34" charset="-120"/>
              </a:rPr>
              <a:t>145</a:t>
            </a:r>
            <a:r>
              <a:rPr lang="en-US" sz="1200" dirty="0">
                <a:solidFill>
                  <a:srgbClr val="0C2E22"/>
                </a:solidFill>
                <a:latin typeface="Public Sans" pitchFamily="34" charset="0"/>
                <a:ea typeface="Public Sans" pitchFamily="34" charset="-122"/>
                <a:cs typeface="Public Sans" pitchFamily="34" charset="-120"/>
              </a:rPr>
              <a:t> checks driven in real Chrome.</a:t>
            </a:r>
            <a:endParaRPr lang="en-US" sz="1200" dirty="0"/>
          </a:p>
        </p:txBody>
      </p:sp>
      <p:sp>
        <p:nvSpPr>
          <p:cNvPr id="7" name="Text 5"/>
          <p:cNvSpPr/>
          <p:nvPr/>
        </p:nvSpPr>
        <p:spPr>
          <a:xfrm>
            <a:off x="971550" y="2356396"/>
            <a:ext cx="50492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E22"/>
                </a:solidFill>
                <a:latin typeface="Public Sans" pitchFamily="34" charset="0"/>
                <a:ea typeface="Public Sans" pitchFamily="34" charset="-122"/>
                <a:cs typeface="Public Sans" pitchFamily="34" charset="-120"/>
              </a:rPr>
              <a:t>Deployed on Railway; </a:t>
            </a:r>
            <a:r>
              <a:rPr lang="en-US" sz="1200" b="1" dirty="0">
                <a:solidFill>
                  <a:srgbClr val="0C2E22"/>
                </a:solidFill>
                <a:latin typeface="Public Sans" pitchFamily="34" charset="0"/>
                <a:ea typeface="Public Sans" pitchFamily="34" charset="-122"/>
                <a:cs typeface="Public Sans" pitchFamily="34" charset="-120"/>
              </a:rPr>
              <a:t>15</a:t>
            </a:r>
            <a:r>
              <a:rPr lang="en-US" sz="1200" dirty="0">
                <a:solidFill>
                  <a:srgbClr val="0C2E22"/>
                </a:solidFill>
                <a:latin typeface="Public Sans" pitchFamily="34" charset="0"/>
                <a:ea typeface="Public Sans" pitchFamily="34" charset="-122"/>
                <a:cs typeface="Public Sans" pitchFamily="34" charset="-120"/>
              </a:rPr>
              <a:t> routes live. Four optimiser bugs found and fixed by the UI work.</a:t>
            </a:r>
            <a:endParaRPr lang="en-US" sz="1200" dirty="0"/>
          </a:p>
        </p:txBody>
      </p:sp>
      <p:sp>
        <p:nvSpPr>
          <p:cNvPr id="8" name="Shape 6"/>
          <p:cNvSpPr/>
          <p:nvPr/>
        </p:nvSpPr>
        <p:spPr>
          <a:xfrm>
            <a:off x="6162675" y="1443980"/>
            <a:ext cx="5213350" cy="1438771"/>
          </a:xfrm>
          <a:prstGeom prst="roundRect">
            <a:avLst>
              <a:gd name="adj" fmla="val 2427"/>
            </a:avLst>
          </a:prstGeom>
          <a:solidFill>
            <a:srgbClr val="FFFFFF"/>
          </a:solidFill>
          <a:ln w="6350">
            <a:solidFill>
              <a:srgbClr val="C9DCCF"/>
            </a:solidFill>
            <a:prstDash val="solid"/>
          </a:ln>
        </p:spPr>
      </p:sp>
      <p:sp>
        <p:nvSpPr>
          <p:cNvPr id="9" name="Text 7"/>
          <p:cNvSpPr/>
          <p:nvPr/>
        </p:nvSpPr>
        <p:spPr>
          <a:xfrm>
            <a:off x="6318250" y="1574155"/>
            <a:ext cx="504926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7A4F"/>
                </a:solidFill>
                <a:latin typeface="Archivo" pitchFamily="34" charset="0"/>
                <a:ea typeface="Archivo" pitchFamily="34" charset="-122"/>
                <a:cs typeface="Archivo" pitchFamily="34" charset="-120"/>
              </a:rPr>
              <a:t>Environmental impact</a:t>
            </a:r>
            <a:endParaRPr lang="en-US" sz="1600" dirty="0"/>
          </a:p>
        </p:txBody>
      </p:sp>
      <p:sp>
        <p:nvSpPr>
          <p:cNvPr id="10" name="Text 8"/>
          <p:cNvSpPr/>
          <p:nvPr/>
        </p:nvSpPr>
        <p:spPr>
          <a:xfrm>
            <a:off x="6318250" y="1909415"/>
            <a:ext cx="5049266" cy="42158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C2E22"/>
                </a:solidFill>
                <a:latin typeface="Public Sans" pitchFamily="34" charset="0"/>
                <a:ea typeface="Public Sans" pitchFamily="34" charset="-122"/>
                <a:cs typeface="Public Sans" pitchFamily="34" charset="-120"/>
              </a:rPr>
              <a:t>−7.2% diesel</a:t>
            </a:r>
            <a:r>
              <a:rPr lang="en-US" sz="1200" dirty="0">
                <a:solidFill>
                  <a:srgbClr val="0C2E22"/>
                </a:solidFill>
                <a:latin typeface="Public Sans" pitchFamily="34" charset="0"/>
                <a:ea typeface="Public Sans" pitchFamily="34" charset="-122"/>
                <a:cs typeface="Public Sans" pitchFamily="34" charset="-120"/>
              </a:rPr>
              <a:t>, −9.5 t CO₂ a year at a modelled polar site; </a:t>
            </a:r>
            <a:r>
              <a:rPr lang="en-US" sz="1200" b="1" dirty="0">
                <a:solidFill>
                  <a:srgbClr val="0C2E22"/>
                </a:solidFill>
                <a:latin typeface="Public Sans" pitchFamily="34" charset="0"/>
                <a:ea typeface="Public Sans" pitchFamily="34" charset="-122"/>
                <a:cs typeface="Public Sans" pitchFamily="34" charset="-120"/>
              </a:rPr>
              <a:t>245 ha</a:t>
            </a:r>
            <a:r>
              <a:rPr lang="en-US" sz="1200" dirty="0">
                <a:solidFill>
                  <a:srgbClr val="0C2E22"/>
                </a:solidFill>
                <a:latin typeface="Public Sans" pitchFamily="34" charset="0"/>
                <a:ea typeface="Public Sans" pitchFamily="34" charset="-122"/>
                <a:cs typeface="Public Sans" pitchFamily="34" charset="-120"/>
              </a:rPr>
              <a:t> forest loss flagged in 84 regions.</a:t>
            </a:r>
            <a:endParaRPr lang="en-US" sz="1200" dirty="0"/>
          </a:p>
        </p:txBody>
      </p:sp>
      <p:sp>
        <p:nvSpPr>
          <p:cNvPr id="11" name="Text 9"/>
          <p:cNvSpPr/>
          <p:nvPr/>
        </p:nvSpPr>
        <p:spPr>
          <a:xfrm>
            <a:off x="6318250" y="2356396"/>
            <a:ext cx="50492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E22"/>
                </a:solidFill>
                <a:latin typeface="Public Sans" pitchFamily="34" charset="0"/>
                <a:ea typeface="Public Sans" pitchFamily="34" charset="-122"/>
                <a:cs typeface="Public Sans" pitchFamily="34" charset="-120"/>
              </a:rPr>
              <a:t>Footprint </a:t>
            </a:r>
            <a:r>
              <a:rPr lang="en-US" sz="1200" b="1" dirty="0">
                <a:solidFill>
                  <a:srgbClr val="0C2E22"/>
                </a:solidFill>
                <a:latin typeface="Public Sans" pitchFamily="34" charset="0"/>
                <a:ea typeface="Public Sans" pitchFamily="34" charset="-122"/>
                <a:cs typeface="Public Sans" pitchFamily="34" charset="-120"/>
              </a:rPr>
              <a:t>574.7 t</a:t>
            </a:r>
            <a:r>
              <a:rPr lang="en-US" sz="1200" dirty="0">
                <a:solidFill>
                  <a:srgbClr val="0C2E22"/>
                </a:solidFill>
                <a:latin typeface="Public Sans" pitchFamily="34" charset="0"/>
                <a:ea typeface="Public Sans" pitchFamily="34" charset="-122"/>
                <a:cs typeface="Public Sans" pitchFamily="34" charset="-120"/>
              </a:rPr>
              <a:t> (528 to 626); Noida CO₂ forecast </a:t>
            </a:r>
            <a:r>
              <a:rPr lang="en-US" sz="1200" b="1" dirty="0">
                <a:solidFill>
                  <a:srgbClr val="0C2E22"/>
                </a:solidFill>
                <a:latin typeface="Public Sans" pitchFamily="34" charset="0"/>
                <a:ea typeface="Public Sans" pitchFamily="34" charset="-122"/>
                <a:cs typeface="Public Sans" pitchFamily="34" charset="-120"/>
              </a:rPr>
              <a:t>+15.5%</a:t>
            </a:r>
            <a:r>
              <a:rPr lang="en-US" sz="1200" dirty="0">
                <a:solidFill>
                  <a:srgbClr val="0C2E22"/>
                </a:solidFill>
                <a:latin typeface="Public Sans" pitchFamily="34" charset="0"/>
                <a:ea typeface="Public Sans" pitchFamily="34" charset="-122"/>
                <a:cs typeface="Public Sans" pitchFamily="34" charset="-120"/>
              </a:rPr>
              <a:t> over persistence.</a:t>
            </a:r>
            <a:endParaRPr lang="en-US" sz="1200" dirty="0"/>
          </a:p>
        </p:txBody>
      </p:sp>
      <p:sp>
        <p:nvSpPr>
          <p:cNvPr id="12" name="Shape 10"/>
          <p:cNvSpPr/>
          <p:nvPr/>
        </p:nvSpPr>
        <p:spPr>
          <a:xfrm>
            <a:off x="815975" y="3016101"/>
            <a:ext cx="5213350" cy="1240681"/>
          </a:xfrm>
          <a:prstGeom prst="roundRect">
            <a:avLst>
              <a:gd name="adj" fmla="val 2815"/>
            </a:avLst>
          </a:prstGeom>
          <a:solidFill>
            <a:srgbClr val="FFFFFF"/>
          </a:solidFill>
          <a:ln w="6350">
            <a:solidFill>
              <a:srgbClr val="C9DCCF"/>
            </a:solidFill>
            <a:prstDash val="solid"/>
          </a:ln>
        </p:spPr>
      </p:sp>
      <p:sp>
        <p:nvSpPr>
          <p:cNvPr id="13" name="Text 11"/>
          <p:cNvSpPr/>
          <p:nvPr/>
        </p:nvSpPr>
        <p:spPr>
          <a:xfrm>
            <a:off x="971550" y="3146276"/>
            <a:ext cx="504926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C4480E"/>
                </a:solidFill>
                <a:latin typeface="Archivo" pitchFamily="34" charset="0"/>
                <a:ea typeface="Archivo" pitchFamily="34" charset="-122"/>
                <a:cs typeface="Archivo" pitchFamily="34" charset="-120"/>
              </a:rPr>
              <a:t>Business model</a:t>
            </a:r>
            <a:endParaRPr lang="en-US" sz="1600" dirty="0"/>
          </a:p>
        </p:txBody>
      </p:sp>
      <p:sp>
        <p:nvSpPr>
          <p:cNvPr id="14" name="Text 12"/>
          <p:cNvSpPr/>
          <p:nvPr/>
        </p:nvSpPr>
        <p:spPr>
          <a:xfrm>
            <a:off x="971550" y="3481536"/>
            <a:ext cx="5049266"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E22"/>
                </a:solidFill>
                <a:latin typeface="Public Sans" pitchFamily="34" charset="0"/>
                <a:ea typeface="Public Sans" pitchFamily="34" charset="-122"/>
                <a:cs typeface="Public Sans" pitchFamily="34" charset="-120"/>
              </a:rPr>
              <a:t>Per-site subscription: industrial sites, off-grid operators, city agencies.</a:t>
            </a:r>
            <a:endParaRPr lang="en-US" sz="1200" dirty="0"/>
          </a:p>
        </p:txBody>
      </p:sp>
      <p:sp>
        <p:nvSpPr>
          <p:cNvPr id="15" name="Text 13"/>
          <p:cNvSpPr/>
          <p:nvPr/>
        </p:nvSpPr>
        <p:spPr>
          <a:xfrm>
            <a:off x="971550" y="3928517"/>
            <a:ext cx="50492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4480E"/>
                </a:solidFill>
                <a:latin typeface="JetBrains Mono" pitchFamily="49" charset="0"/>
                <a:ea typeface="JetBrains Mono" pitchFamily="49" charset="-122"/>
                <a:cs typeface="JetBrains Mono" pitchFamily="49" charset="-120"/>
              </a:rPr>
              <a:t>[₹__ per site, per year]</a:t>
            </a:r>
            <a:endParaRPr lang="en-US" sz="1200" dirty="0"/>
          </a:p>
        </p:txBody>
      </p:sp>
      <p:sp>
        <p:nvSpPr>
          <p:cNvPr id="16" name="Shape 14"/>
          <p:cNvSpPr/>
          <p:nvPr/>
        </p:nvSpPr>
        <p:spPr>
          <a:xfrm>
            <a:off x="6162675" y="3016101"/>
            <a:ext cx="5213350" cy="1240681"/>
          </a:xfrm>
          <a:prstGeom prst="roundRect">
            <a:avLst>
              <a:gd name="adj" fmla="val 2815"/>
            </a:avLst>
          </a:prstGeom>
          <a:solidFill>
            <a:srgbClr val="FFFFFF"/>
          </a:solidFill>
          <a:ln w="6350">
            <a:solidFill>
              <a:srgbClr val="C9DCCF"/>
            </a:solidFill>
            <a:prstDash val="solid"/>
          </a:ln>
        </p:spPr>
      </p:sp>
      <p:sp>
        <p:nvSpPr>
          <p:cNvPr id="17" name="Text 15"/>
          <p:cNvSpPr/>
          <p:nvPr/>
        </p:nvSpPr>
        <p:spPr>
          <a:xfrm>
            <a:off x="6318250" y="3146276"/>
            <a:ext cx="504926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5A38B4"/>
                </a:solidFill>
                <a:latin typeface="Archivo" pitchFamily="34" charset="0"/>
                <a:ea typeface="Archivo" pitchFamily="34" charset="-122"/>
                <a:cs typeface="Archivo" pitchFamily="34" charset="-120"/>
              </a:rPr>
              <a:t>Team and incubation ask</a:t>
            </a:r>
            <a:endParaRPr lang="en-US" sz="1600" dirty="0"/>
          </a:p>
        </p:txBody>
      </p:sp>
      <p:sp>
        <p:nvSpPr>
          <p:cNvPr id="18" name="Text 16"/>
          <p:cNvSpPr/>
          <p:nvPr/>
        </p:nvSpPr>
        <p:spPr>
          <a:xfrm>
            <a:off x="6318250" y="3481536"/>
            <a:ext cx="50492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0C2E22"/>
                </a:solidFill>
                <a:latin typeface="Public Sans" pitchFamily="34" charset="0"/>
                <a:ea typeface="Public Sans" pitchFamily="34" charset="-122"/>
                <a:cs typeface="Public Sans" pitchFamily="34" charset="-120"/>
              </a:rPr>
              <a:t>Team CarbonIQ: [name, role] · [name, role] · [name, role].</a:t>
            </a:r>
            <a:endParaRPr lang="en-US" sz="1200" dirty="0"/>
          </a:p>
        </p:txBody>
      </p:sp>
      <p:sp>
        <p:nvSpPr>
          <p:cNvPr id="19" name="Text 17"/>
          <p:cNvSpPr/>
          <p:nvPr/>
        </p:nvSpPr>
        <p:spPr>
          <a:xfrm>
            <a:off x="6318250" y="3730427"/>
            <a:ext cx="5049266"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A38B4"/>
                </a:solidFill>
                <a:latin typeface="JetBrains Mono" pitchFamily="49" charset="0"/>
                <a:ea typeface="JetBrains Mono" pitchFamily="49" charset="-122"/>
                <a:cs typeface="JetBrains Mono" pitchFamily="49" charset="-120"/>
              </a:rPr>
              <a:t>[mentors, pilot sites, credits]</a:t>
            </a:r>
            <a:endParaRPr lang="en-US" sz="1200" dirty="0"/>
          </a:p>
        </p:txBody>
      </p:sp>
      <p:sp>
        <p:nvSpPr>
          <p:cNvPr id="20" name="Shape 18"/>
          <p:cNvSpPr/>
          <p:nvPr/>
        </p:nvSpPr>
        <p:spPr>
          <a:xfrm>
            <a:off x="812800" y="4399657"/>
            <a:ext cx="2422525" cy="553641"/>
          </a:xfrm>
          <a:prstGeom prst="roundRect">
            <a:avLst>
              <a:gd name="adj" fmla="val 6882"/>
            </a:avLst>
          </a:prstGeom>
          <a:solidFill>
            <a:srgbClr val="0E7A4F"/>
          </a:solidFill>
          <a:ln/>
        </p:spPr>
      </p:sp>
      <p:sp>
        <p:nvSpPr>
          <p:cNvPr id="21" name="Text 19"/>
          <p:cNvSpPr/>
          <p:nvPr/>
        </p:nvSpPr>
        <p:spPr>
          <a:xfrm>
            <a:off x="901700" y="4463157"/>
            <a:ext cx="23120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Public Sans" pitchFamily="34" charset="0"/>
                <a:ea typeface="Public Sans" pitchFamily="34" charset="-122"/>
                <a:cs typeface="Public Sans" pitchFamily="34" charset="-120"/>
              </a:rPr>
              <a:t>0 · Hackathon build</a:t>
            </a:r>
            <a:endParaRPr lang="en-US" sz="1200" dirty="0"/>
          </a:p>
        </p:txBody>
      </p:sp>
      <p:sp>
        <p:nvSpPr>
          <p:cNvPr id="22" name="Text 20"/>
          <p:cNvSpPr/>
          <p:nvPr/>
        </p:nvSpPr>
        <p:spPr>
          <a:xfrm>
            <a:off x="901700" y="4676477"/>
            <a:ext cx="2312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DF3E8"/>
                </a:solidFill>
                <a:latin typeface="Public Sans" pitchFamily="34" charset="0"/>
                <a:ea typeface="Public Sans" pitchFamily="34" charset="-122"/>
                <a:cs typeface="Public Sans" pitchFamily="34" charset="-120"/>
              </a:rPr>
              <a:t>done</a:t>
            </a:r>
            <a:endParaRPr lang="en-US" sz="1200" dirty="0"/>
          </a:p>
        </p:txBody>
      </p:sp>
      <p:pic>
        <p:nvPicPr>
          <p:cNvPr id="23" name="Image 0" descr="connector">    </p:cNvPr>
          <p:cNvPicPr>
            <a:picLocks noChangeAspect="1"/>
          </p:cNvPicPr>
          <p:nvPr/>
        </p:nvPicPr>
        <p:blipFill>
          <a:blip r:embed="rId1"/>
          <a:srcRect l="0" r="0" t="0" b="0"/>
          <a:stretch/>
        </p:blipFill>
        <p:spPr>
          <a:xfrm>
            <a:off x="3286125" y="4638377"/>
            <a:ext cx="165100" cy="76200"/>
          </a:xfrm>
          <a:prstGeom prst="rect">
            <a:avLst/>
          </a:prstGeom>
        </p:spPr>
      </p:pic>
      <p:sp>
        <p:nvSpPr>
          <p:cNvPr id="24" name="Shape 21"/>
          <p:cNvSpPr/>
          <p:nvPr/>
        </p:nvSpPr>
        <p:spPr>
          <a:xfrm>
            <a:off x="3508375" y="4393307"/>
            <a:ext cx="2435225" cy="566341"/>
          </a:xfrm>
          <a:prstGeom prst="roundRect">
            <a:avLst>
              <a:gd name="adj" fmla="val 5606"/>
            </a:avLst>
          </a:prstGeom>
          <a:solidFill>
            <a:srgbClr val="FFFFFF"/>
          </a:solidFill>
          <a:ln w="12700">
            <a:solidFill>
              <a:srgbClr val="1D52C7"/>
            </a:solidFill>
            <a:prstDash val="solid"/>
          </a:ln>
        </p:spPr>
      </p:sp>
      <p:sp>
        <p:nvSpPr>
          <p:cNvPr id="25" name="Text 22"/>
          <p:cNvSpPr/>
          <p:nvPr/>
        </p:nvSpPr>
        <p:spPr>
          <a:xfrm>
            <a:off x="3603625" y="4463157"/>
            <a:ext cx="23120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E22"/>
                </a:solidFill>
                <a:latin typeface="Public Sans" pitchFamily="34" charset="0"/>
                <a:ea typeface="Public Sans" pitchFamily="34" charset="-122"/>
                <a:cs typeface="Public Sans" pitchFamily="34" charset="-120"/>
              </a:rPr>
              <a:t>1 · Real data</a:t>
            </a:r>
            <a:endParaRPr lang="en-US" sz="1200" dirty="0"/>
          </a:p>
        </p:txBody>
      </p:sp>
      <p:sp>
        <p:nvSpPr>
          <p:cNvPr id="26" name="Text 23"/>
          <p:cNvSpPr/>
          <p:nvPr/>
        </p:nvSpPr>
        <p:spPr>
          <a:xfrm>
            <a:off x="3603625" y="4676477"/>
            <a:ext cx="2312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BRSR, India Scope 3</a:t>
            </a:r>
            <a:endParaRPr lang="en-US" sz="1200" dirty="0"/>
          </a:p>
        </p:txBody>
      </p:sp>
      <p:pic>
        <p:nvPicPr>
          <p:cNvPr id="27" name="Image 1" descr="connector">    </p:cNvPr>
          <p:cNvPicPr>
            <a:picLocks noChangeAspect="1"/>
          </p:cNvPicPr>
          <p:nvPr/>
        </p:nvPicPr>
        <p:blipFill>
          <a:blip r:embed="rId2"/>
          <a:srcRect l="0" r="0" t="0" b="0"/>
          <a:stretch/>
        </p:blipFill>
        <p:spPr>
          <a:xfrm>
            <a:off x="6000750" y="4638377"/>
            <a:ext cx="165100" cy="76200"/>
          </a:xfrm>
          <a:prstGeom prst="rect">
            <a:avLst/>
          </a:prstGeom>
        </p:spPr>
      </p:pic>
      <p:sp>
        <p:nvSpPr>
          <p:cNvPr id="28" name="Shape 24"/>
          <p:cNvSpPr/>
          <p:nvPr/>
        </p:nvSpPr>
        <p:spPr>
          <a:xfrm>
            <a:off x="6223000" y="4393307"/>
            <a:ext cx="2435225" cy="566341"/>
          </a:xfrm>
          <a:prstGeom prst="roundRect">
            <a:avLst>
              <a:gd name="adj" fmla="val 5606"/>
            </a:avLst>
          </a:prstGeom>
          <a:solidFill>
            <a:srgbClr val="FFFFFF"/>
          </a:solidFill>
          <a:ln w="12700">
            <a:solidFill>
              <a:srgbClr val="5A38B4"/>
            </a:solidFill>
            <a:prstDash val="solid"/>
          </a:ln>
        </p:spPr>
      </p:sp>
      <p:sp>
        <p:nvSpPr>
          <p:cNvPr id="29" name="Text 25"/>
          <p:cNvSpPr/>
          <p:nvPr/>
        </p:nvSpPr>
        <p:spPr>
          <a:xfrm>
            <a:off x="6318250" y="4463157"/>
            <a:ext cx="23120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E22"/>
                </a:solidFill>
                <a:latin typeface="Public Sans" pitchFamily="34" charset="0"/>
                <a:ea typeface="Public Sans" pitchFamily="34" charset="-122"/>
                <a:cs typeface="Public Sans" pitchFamily="34" charset="-120"/>
              </a:rPr>
              <a:t>2 · Metered pilots</a:t>
            </a:r>
            <a:endParaRPr lang="en-US" sz="1200" dirty="0"/>
          </a:p>
        </p:txBody>
      </p:sp>
      <p:sp>
        <p:nvSpPr>
          <p:cNvPr id="30" name="Text 26"/>
          <p:cNvSpPr/>
          <p:nvPr/>
        </p:nvSpPr>
        <p:spPr>
          <a:xfrm>
            <a:off x="6318250" y="4676477"/>
            <a:ext cx="2312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2 to 3 sites</a:t>
            </a:r>
            <a:endParaRPr lang="en-US" sz="1200" dirty="0"/>
          </a:p>
        </p:txBody>
      </p:sp>
      <p:pic>
        <p:nvPicPr>
          <p:cNvPr id="31" name="Image 2" descr="connector">    </p:cNvPr>
          <p:cNvPicPr>
            <a:picLocks noChangeAspect="1"/>
          </p:cNvPicPr>
          <p:nvPr/>
        </p:nvPicPr>
        <p:blipFill>
          <a:blip r:embed="rId3"/>
          <a:srcRect l="0" r="0" t="0" b="0"/>
          <a:stretch/>
        </p:blipFill>
        <p:spPr>
          <a:xfrm>
            <a:off x="8715375" y="4638377"/>
            <a:ext cx="165100" cy="76200"/>
          </a:xfrm>
          <a:prstGeom prst="rect">
            <a:avLst/>
          </a:prstGeom>
        </p:spPr>
      </p:pic>
      <p:sp>
        <p:nvSpPr>
          <p:cNvPr id="32" name="Shape 27"/>
          <p:cNvSpPr/>
          <p:nvPr/>
        </p:nvSpPr>
        <p:spPr>
          <a:xfrm>
            <a:off x="8937625" y="4393307"/>
            <a:ext cx="2435225" cy="566341"/>
          </a:xfrm>
          <a:prstGeom prst="roundRect">
            <a:avLst>
              <a:gd name="adj" fmla="val 5606"/>
            </a:avLst>
          </a:prstGeom>
          <a:solidFill>
            <a:srgbClr val="FFFFFF"/>
          </a:solidFill>
          <a:ln w="12700">
            <a:solidFill>
              <a:srgbClr val="C4480E"/>
            </a:solidFill>
            <a:prstDash val="solid"/>
          </a:ln>
        </p:spPr>
      </p:sp>
      <p:sp>
        <p:nvSpPr>
          <p:cNvPr id="33" name="Text 28"/>
          <p:cNvSpPr/>
          <p:nvPr/>
        </p:nvSpPr>
        <p:spPr>
          <a:xfrm>
            <a:off x="9032875" y="4463157"/>
            <a:ext cx="231206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C2E22"/>
                </a:solidFill>
                <a:latin typeface="Public Sans" pitchFamily="34" charset="0"/>
                <a:ea typeface="Public Sans" pitchFamily="34" charset="-122"/>
                <a:cs typeface="Public Sans" pitchFamily="34" charset="-120"/>
              </a:rPr>
              <a:t>3 · Product</a:t>
            </a:r>
            <a:endParaRPr lang="en-US" sz="1200" dirty="0"/>
          </a:p>
        </p:txBody>
      </p:sp>
      <p:sp>
        <p:nvSpPr>
          <p:cNvPr id="34" name="Text 29"/>
          <p:cNvSpPr/>
          <p:nvPr/>
        </p:nvSpPr>
        <p:spPr>
          <a:xfrm>
            <a:off x="9032875" y="4676477"/>
            <a:ext cx="23120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7503F"/>
                </a:solidFill>
                <a:latin typeface="Public Sans" pitchFamily="34" charset="0"/>
                <a:ea typeface="Public Sans" pitchFamily="34" charset="-122"/>
                <a:cs typeface="Public Sans" pitchFamily="34" charset="-120"/>
              </a:rPr>
              <a:t>API, multi-tenant</a:t>
            </a:r>
            <a:endParaRPr lang="en-US" sz="1200" dirty="0"/>
          </a:p>
        </p:txBody>
      </p:sp>
      <p:sp>
        <p:nvSpPr>
          <p:cNvPr id="35" name="Text 30"/>
          <p:cNvSpPr/>
          <p:nvPr/>
        </p:nvSpPr>
        <p:spPr>
          <a:xfrm>
            <a:off x="812800" y="5092998"/>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5800"/>
                </a:solidFill>
                <a:latin typeface="Public Sans" pitchFamily="34" charset="0"/>
                <a:ea typeface="Public Sans" pitchFamily="34" charset="-122"/>
                <a:cs typeface="Public Sans" pitchFamily="34" charset="-120"/>
              </a:rPr>
              <a:t>Impact figures are from modelled and example sites; field pilots are the next step. Prices, names and timings are placeholders.</a:t>
            </a:r>
            <a:endParaRPr lang="en-US" sz="1200" dirty="0"/>
          </a:p>
        </p:txBody>
      </p:sp>
      <p:sp>
        <p:nvSpPr>
          <p:cNvPr id="36" name="Text 31"/>
          <p:cNvSpPr/>
          <p:nvPr/>
        </p:nvSpPr>
        <p:spPr>
          <a:xfrm>
            <a:off x="812800" y="62382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github.com/neevmodh/Polaris · polaris-web-production-bb75.up.railway.app</a:t>
            </a:r>
            <a:endParaRPr lang="en-US" sz="1200" dirty="0"/>
          </a:p>
        </p:txBody>
      </p:sp>
      <p:sp>
        <p:nvSpPr>
          <p:cNvPr id="37" name="Text 32"/>
          <p:cNvSpPr/>
          <p:nvPr/>
        </p:nvSpPr>
        <p:spPr>
          <a:xfrm>
            <a:off x="10693400" y="6238280"/>
            <a:ext cx="685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675A"/>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theme/theme1.xml><?xml version="1.0" encoding="utf-8"?>
<a:theme xmlns:a="http://schemas.openxmlformats.org/drawingml/2006/main" name="Polaris Pitch Deck">
  <a:themeElements>
    <a:clrScheme name="Polaris Pitch Deck">
      <a:dk1>
        <a:srgbClr val="0C2E22"/>
      </a:dk1>
      <a:lt1>
        <a:srgbClr val="F2F7F3"/>
      </a:lt1>
      <a:dk2>
        <a:srgbClr val="466056"/>
      </a:dk2>
      <a:lt2>
        <a:srgbClr val="DBE3DE"/>
      </a:lt2>
      <a:accent1>
        <a:srgbClr val="27503F"/>
      </a:accent1>
      <a:accent2>
        <a:srgbClr val="0B6B45"/>
      </a:accent2>
      <a:accent3>
        <a:srgbClr val="0C4A35"/>
      </a:accent3>
      <a:accent4>
        <a:srgbClr val="5A38B4"/>
      </a:accent4>
      <a:accent5>
        <a:srgbClr val="0E7A4F"/>
      </a:accent5>
      <a:accent6>
        <a:srgbClr val="C4480E"/>
      </a:accent6>
      <a:hlink>
        <a:srgbClr val="0563C1"/>
      </a:hlink>
      <a:folHlink>
        <a:srgbClr val="954F72"/>
      </a:folHlink>
    </a:clrScheme>
    <a:fontScheme name="Polaris Pitch Deck">
      <a:majorFont>
        <a:latin typeface="Archiv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Polaris Pitch Deck</dc:title>
  <dc:subject/>
  <dc:creator/>
  <cp:lastModifiedBy/>
  <cp:revision>1</cp:revision>
  <dcterms:created xsi:type="dcterms:W3CDTF">2026-10-08T08:47:34Z</dcterms:created>
  <dcterms:modified xsi:type="dcterms:W3CDTF">2026-10-08T08:47:34Z</dcterms:modified>
</cp:coreProperties>
</file>